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3b11f137fa487c" /><Relationship Type="http://schemas.openxmlformats.org/officeDocument/2006/relationships/extended-properties" Target="/docProps/app.xml" Id="R8b73dbfee7804916" /><Relationship Type="http://schemas.openxmlformats.org/officeDocument/2006/relationships/officeDocument" Target="/ppt/presentation.xml" Id="R058a3c745a1d47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01eb87ac81459e"/>
  </p:sldMasterIdLst>
  <p:notesMasterIdLst>
    <p:notesMasterId xmlns:r="http://schemas.openxmlformats.org/officeDocument/2006/relationships" r:id="R7881b118361f48f5"/>
  </p:notesMasterIdLst>
  <p:sldIdLst>
    <p:sldId xmlns:r="http://schemas.openxmlformats.org/officeDocument/2006/relationships" id="256" r:id="Reb4dc7fec5ac407a"/>
    <p:sldId xmlns:r="http://schemas.openxmlformats.org/officeDocument/2006/relationships" id="257" r:id="Rd63269b6bc614106"/>
    <p:sldId xmlns:r="http://schemas.openxmlformats.org/officeDocument/2006/relationships" id="258" r:id="Ra2d9f7a22b3c423d"/>
    <p:sldId xmlns:r="http://schemas.openxmlformats.org/officeDocument/2006/relationships" id="259" r:id="R6d0302822c0040d8"/>
    <p:sldId xmlns:r="http://schemas.openxmlformats.org/officeDocument/2006/relationships" id="260" r:id="Rd977f91320514f0c"/>
    <p:sldId xmlns:r="http://schemas.openxmlformats.org/officeDocument/2006/relationships" id="261" r:id="Rc26aa4e3fdc84d0d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10ac5c7e9d4cfa" /><Relationship Type="http://schemas.openxmlformats.org/officeDocument/2006/relationships/slideMaster" Target="/ppt/slideMasters/slideMaster1.xml" Id="R4c01eb87ac81459e" /><Relationship Type="http://schemas.openxmlformats.org/officeDocument/2006/relationships/notesMaster" Target="/ppt/notesMasters/notesMaster1.xml" Id="R7881b118361f48f5" /><Relationship Type="http://schemas.openxmlformats.org/officeDocument/2006/relationships/presProps" Target="/ppt/presProps.xml" Id="R9d323466618d4f17" /><Relationship Type="http://schemas.openxmlformats.org/officeDocument/2006/relationships/tableStyles" Target="/ppt/tableStyles.xml" Id="Ra3729aaf5f004dd7" /><Relationship Type="http://schemas.openxmlformats.org/officeDocument/2006/relationships/slide" Target="/ppt/slides/slide1.xml" Id="Reb4dc7fec5ac407a" /><Relationship Type="http://schemas.openxmlformats.org/officeDocument/2006/relationships/slide" Target="/ppt/slides/slide2.xml" Id="Rd63269b6bc614106" /><Relationship Type="http://schemas.openxmlformats.org/officeDocument/2006/relationships/slide" Target="/ppt/slides/slide3.xml" Id="Ra2d9f7a22b3c423d" /><Relationship Type="http://schemas.openxmlformats.org/officeDocument/2006/relationships/slide" Target="/ppt/slides/slide4.xml" Id="R6d0302822c0040d8" /><Relationship Type="http://schemas.openxmlformats.org/officeDocument/2006/relationships/slide" Target="/ppt/slides/slide5.xml" Id="Rd977f91320514f0c" /><Relationship Type="http://schemas.openxmlformats.org/officeDocument/2006/relationships/slide" Target="/ppt/slides/slide6.xml" Id="Rc26aa4e3fdc84d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d85dc07acc4b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c44f8b42c0408e" /><Relationship Type="http://schemas.openxmlformats.org/officeDocument/2006/relationships/notesMaster" Target="/ppt/notesMasters/notesMaster1.xml" Id="Ra4f459c50d164e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892ef4d80e40b8" /><Relationship Type="http://schemas.openxmlformats.org/officeDocument/2006/relationships/notesMaster" Target="/ppt/notesMasters/notesMaster1.xml" Id="R655b23238d1046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1f4d0e94964007" /><Relationship Type="http://schemas.openxmlformats.org/officeDocument/2006/relationships/notesMaster" Target="/ppt/notesMasters/notesMaster1.xml" Id="Rf3208b6061d245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c26a9b717343b1" /><Relationship Type="http://schemas.openxmlformats.org/officeDocument/2006/relationships/notesMaster" Target="/ppt/notesMasters/notesMaster1.xml" Id="R3773e58ddd094d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775c0652454688" /><Relationship Type="http://schemas.openxmlformats.org/officeDocument/2006/relationships/notesMaster" Target="/ppt/notesMasters/notesMaster1.xml" Id="R99d94b0ebe234c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628881d8f34f3c" /><Relationship Type="http://schemas.openxmlformats.org/officeDocument/2006/relationships/notesMaster" Target="/ppt/notesMasters/notesMaster1.xml" Id="R6f97eb7d1fbd4c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229d9304b43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44bb9140434d01" /><Relationship Type="http://schemas.openxmlformats.org/officeDocument/2006/relationships/slideLayout" Target="/ppt/slideLayouts/slideLayout1.xml" Id="R698e1eef7b0e4a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8e1eef7b0e4a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dd9dd8d184e74" /><Relationship Type="http://schemas.openxmlformats.org/officeDocument/2006/relationships/image" Target="/ppt/media/image.png" Id="R4d015aa444284f21" /><Relationship Type="http://schemas.openxmlformats.org/officeDocument/2006/relationships/image" Target="/ppt/media/image.jpeg" Id="R00116e1e793f432e" /><Relationship Type="http://schemas.openxmlformats.org/officeDocument/2006/relationships/notesSlide" Target="/ppt/notesSlides/notesSlide1.xml" Id="Rbf810033018347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b08e3699e4cf0" /><Relationship Type="http://schemas.openxmlformats.org/officeDocument/2006/relationships/image" Target="/ppt/media/image2.png" Id="R0410ee25ec4c452a" /><Relationship Type="http://schemas.openxmlformats.org/officeDocument/2006/relationships/image" Target="/ppt/media/image2.jpeg" Id="Rc7c71145808840ff" /><Relationship Type="http://schemas.openxmlformats.org/officeDocument/2006/relationships/notesSlide" Target="/ppt/notesSlides/notesSlide2.xml" Id="Re50690ff98a54c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8ac5446994b7b" /><Relationship Type="http://schemas.openxmlformats.org/officeDocument/2006/relationships/image" Target="/ppt/media/image3.png" Id="R46a460d271134f14" /><Relationship Type="http://schemas.openxmlformats.org/officeDocument/2006/relationships/image" Target="/ppt/media/image3.jpeg" Id="Rd9765044d97d4c80" /><Relationship Type="http://schemas.openxmlformats.org/officeDocument/2006/relationships/image" Target="/ppt/media/image4.jpeg" Id="Re4148093806446a8" /><Relationship Type="http://schemas.openxmlformats.org/officeDocument/2006/relationships/notesSlide" Target="/ppt/notesSlides/notesSlide3.xml" Id="R0df6c5f39a384c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6fbd384a7414e" /><Relationship Type="http://schemas.openxmlformats.org/officeDocument/2006/relationships/image" Target="/ppt/media/image4.png" Id="Rc40beff5c51f4562" /><Relationship Type="http://schemas.openxmlformats.org/officeDocument/2006/relationships/image" Target="/ppt/media/image5.jpeg" Id="R8f11cacb6d344c92" /><Relationship Type="http://schemas.openxmlformats.org/officeDocument/2006/relationships/notesSlide" Target="/ppt/notesSlides/notesSlide4.xml" Id="R0c5cd0d2d28b43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893dc72f4480d" /><Relationship Type="http://schemas.openxmlformats.org/officeDocument/2006/relationships/image" Target="/ppt/media/image5.png" Id="Reb5a1c0aac9c4578" /><Relationship Type="http://schemas.openxmlformats.org/officeDocument/2006/relationships/image" Target="/ppt/media/image6.jpeg" Id="R0e0d60b54c0340b6" /><Relationship Type="http://schemas.openxmlformats.org/officeDocument/2006/relationships/notesSlide" Target="/ppt/notesSlides/notesSlide5.xml" Id="Ra551603cef6642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97b17106d4fc9" /><Relationship Type="http://schemas.openxmlformats.org/officeDocument/2006/relationships/image" Target="/ppt/media/image6.png" Id="Racccb82146884446" /><Relationship Type="http://schemas.openxmlformats.org/officeDocument/2006/relationships/image" Target="/ppt/media/image7.png" Id="R6dce61b82e8245da" /><Relationship Type="http://schemas.openxmlformats.org/officeDocument/2006/relationships/notesSlide" Target="/ppt/notesSlides/notesSlide6.xml" Id="R77ae10b3318f49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2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15aa444284f21"/>
          <a:stretch xmlns:a="http://schemas.openxmlformats.org/drawingml/2006/main"/>
        </p:blipFill>
        <p:spPr>
          <a:xfrm xmlns:a="http://schemas.openxmlformats.org/drawingml/2006/main">
            <a:off x="666750" y="571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467AE-6588-4F54-B679-4C08D3F2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Aluguel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1AC6F-18B8-42C3-B69B-45B687AD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81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9CCC3"/>
                </a:solidFill>
              </a:defRPr>
            </a:pPr>
            <a:r>
              <a:rPr sz="975" b="1">
                <a:solidFill>
                  <a:srgbClr val="B9CCC3"/>
                </a:solidFill>
              </a:rPr>
              <a:t>GESTÃO DE ALUGUÉIS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9804D-912D-47C7-982C-03C19159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863C"/>
                </a:solidFill>
              </a:defRPr>
            </a:pPr>
            <a:r>
              <a:rPr sz="1050" b="1">
                <a:solidFill>
                  <a:srgbClr val="B8863C"/>
                </a:solidFill>
              </a:rPr>
              <a:t>APRESENTAÇÃO COMERCIAL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F33E3-F700-4528-9269-5019874B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7905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Seus aluguéis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sob controle.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5E544-754C-4D3B-AF07-397ACFD0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B8863C"/>
                </a:solidFill>
              </a:defRPr>
            </a:pPr>
            <a:r>
              <a:rPr sz="2625" b="1">
                <a:solidFill>
                  <a:srgbClr val="B8863C"/>
                </a:solidFill>
              </a:rPr>
              <a:t>Sem planilhas espalhadas.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551B0-0EF4-4CF1-A593-0FC88479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819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9D1"/>
                </a:solidFill>
              </a:defRPr>
            </a:pPr>
            <a:r>
              <a:rPr sz="1800" b="0">
                <a:solidFill>
                  <a:srgbClr val="C9D9D1"/>
                </a:solidFill>
              </a:rPr>
              <a:t>Da casa vaga ao pagamento recebido, com a rotina em uma visão única.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409F3-18D0-4EAA-8102-EA00E7A9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8953500" cy="5572125"/>
          </a:xfrm>
          <a:prstGeom xmlns:a="http://schemas.openxmlformats.org/drawingml/2006/main" prst="roundRect">
            <a:avLst>
              <a:gd name="adj" fmla="val 27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59720-C0E7-4E53-9EB5-84592685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895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EA548-AB5E-4F0A-B012-1EDC97DF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3782B-E144-4248-9C9A-BF5D0664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B8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4E7A9-CE1E-4A77-A920-E4E10225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816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B0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1784B4-B8A2-4086-B400-0AAD3142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435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63"/>
                </a:solidFill>
              </a:defRPr>
            </a:pPr>
            <a:r>
              <a:rPr sz="675" b="0">
                <a:solidFill>
                  <a:srgbClr val="5C6B63"/>
                </a:solidFill>
              </a:rPr>
              <a:t>aluguel.app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16e1e793f432e"/>
          <a:srcRect xmlns:a="http://schemas.openxmlformats.org/drawingml/2006/main" l="2280" t="0" r="22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5772150"/>
            <a:ext cx="8915400" cy="52578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7AF8B-9C92-4CE6-BB1A-D7A76933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01425"/>
            <a:ext cx="8953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B4035"/>
          </a:solidFill>
          <a:ln xmlns:a="http://schemas.openxmlformats.org/drawingml/2006/main" w="9525">
            <a:solidFill>
              <a:srgbClr val="3659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F34CBE-98EE-459D-A13C-6ABB31E5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6205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Produto real • dados demonstrativos • leitura clara da operação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BD9DA-E3F1-476B-9645-C2A09C98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5867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5BA"/>
                </a:solidFill>
              </a:defRPr>
            </a:pPr>
            <a:r>
              <a:rPr sz="900" b="1">
                <a:solidFill>
                  <a:srgbClr val="AFC5BA"/>
                </a:solidFill>
              </a:rPr>
              <a:t>1/6 • Aluguel — cada aluguel no lugar certo</a:t>
            </a:r>
          </a:p>
        </p:txBody>
      </p:sp>
    </p:spTree>
    <p:extLst>
      <p:ext uri="{BB962C8B-B14F-4D97-AF65-F5344CB8AC3E}">
        <p14:creationId xmlns:p14="http://schemas.microsoft.com/office/powerpoint/2010/main" val="7060653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0ee25ec4c452a"/>
          <a:stretch xmlns:a="http://schemas.openxmlformats.org/drawingml/2006/main"/>
        </p:blipFill>
        <p:spPr>
          <a:xfrm xmlns:a="http://schemas.openxmlformats.org/drawingml/2006/main">
            <a:off x="666750" y="571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EB96E-BC8F-4E94-B184-A8E9C24F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620"/>
                </a:solidFill>
              </a:defRPr>
            </a:pPr>
            <a:r>
              <a:rPr sz="1725" b="1">
                <a:solidFill>
                  <a:srgbClr val="1C2620"/>
                </a:solidFill>
              </a:rPr>
              <a:t>Aluguel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4EA23-8F5D-45C6-80DA-12E90E82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81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B63"/>
                </a:solidFill>
              </a:defRPr>
            </a:pPr>
            <a:r>
              <a:rPr sz="975" b="1">
                <a:solidFill>
                  <a:srgbClr val="5C6B63"/>
                </a:solidFill>
              </a:rPr>
              <a:t>GESTÃO DE ALUGUÉIS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F60E2-7B9D-404D-96DB-416CCE39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C2620"/>
                </a:solidFill>
              </a:defRPr>
            </a:pPr>
            <a:r>
              <a:rPr sz="5100" b="1">
                <a:solidFill>
                  <a:srgbClr val="1C2620"/>
                </a:solidFill>
              </a:rPr>
              <a:t>Veja o mês</a:t>
            </a:r>
          </a:p>
          <a:p xmlns:a="http://schemas.openxmlformats.org/drawingml/2006/main">
            <a:pPr algn="l">
              <a:defRPr sz="5100" b="1">
                <a:solidFill>
                  <a:srgbClr val="1C2620"/>
                </a:solidFill>
              </a:defRPr>
            </a:pPr>
            <a:r>
              <a:rPr sz="5100" b="1">
                <a:solidFill>
                  <a:srgbClr val="1C2620"/>
                </a:solidFill>
              </a:rPr>
              <a:t>antes de agir.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1161D-B9AE-4EA2-8CEF-5973DB96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C6B63"/>
                </a:solidFill>
              </a:defRPr>
            </a:pPr>
            <a:r>
              <a:rPr sz="1875" b="0">
                <a:solidFill>
                  <a:srgbClr val="5C6B63"/>
                </a:solidFill>
              </a:rPr>
              <a:t>Previsto, recebido, pendências, ocupação e alertas em uma visão única.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CF482-0320-4DAF-8465-DFE2BA5F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8953500" cy="5810250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2ED7D-C792-46E7-BD00-99DC2E7E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895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151C3-788C-4BDE-B0AB-9A767A6B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81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51E64-6418-4D78-9143-31D5EB5F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81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B8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D2522-8094-472A-8EF2-B5BF6500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81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B0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140E1-94E2-4E9D-BC8D-7AB0EB12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434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63"/>
                </a:solidFill>
              </a:defRPr>
            </a:pPr>
            <a:r>
              <a:rPr sz="675" b="0">
                <a:solidFill>
                  <a:srgbClr val="5C6B63"/>
                </a:solidFill>
              </a:rPr>
              <a:t>aluguel.app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71145808840ff"/>
          <a:srcRect xmlns:a="http://schemas.openxmlformats.org/drawingml/2006/main" l="4348" t="0" r="43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772025"/>
            <a:ext cx="8915400" cy="54959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EF580-D97B-4355-B1DE-C86D3B51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06100"/>
            <a:ext cx="895350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1E4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CEF23-2E30-4370-A961-A718AF4C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02042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22A"/>
                </a:solidFill>
              </a:defRPr>
            </a:pPr>
            <a:r>
              <a:rPr sz="1875" b="1">
                <a:solidFill>
                  <a:srgbClr val="14322A"/>
                </a:solidFill>
              </a:rPr>
              <a:t>Clareza para priorizar cobranças e manutenção.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823E38-C329-4942-A893-C336AA75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5867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A099"/>
                </a:solidFill>
              </a:defRPr>
            </a:pPr>
            <a:r>
              <a:rPr sz="900" b="1">
                <a:solidFill>
                  <a:srgbClr val="93A099"/>
                </a:solidFill>
              </a:rPr>
              <a:t>2/6 • Captura real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1521871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460d271134f14"/>
          <a:stretch xmlns:a="http://schemas.openxmlformats.org/drawingml/2006/main"/>
        </p:blipFill>
        <p:spPr>
          <a:xfrm xmlns:a="http://schemas.openxmlformats.org/drawingml/2006/main">
            <a:off x="666750" y="571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7B2B4-9247-48EF-A59E-EBE1B3B6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620"/>
                </a:solidFill>
              </a:defRPr>
            </a:pPr>
            <a:r>
              <a:rPr sz="1725" b="1">
                <a:solidFill>
                  <a:srgbClr val="1C2620"/>
                </a:solidFill>
              </a:rPr>
              <a:t>Aluguel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5BE71-9DC3-45C5-B1AB-693B49F7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81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B63"/>
                </a:solidFill>
              </a:defRPr>
            </a:pPr>
            <a:r>
              <a:rPr sz="975" b="1">
                <a:solidFill>
                  <a:srgbClr val="5C6B63"/>
                </a:solidFill>
              </a:rPr>
              <a:t>GESTÃO DE ALUGUÉIS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6CC4E-DD1D-4EF9-9571-17A733D3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C2620"/>
                </a:solidFill>
              </a:defRPr>
            </a:pPr>
            <a:r>
              <a:rPr sz="4950" b="1">
                <a:solidFill>
                  <a:srgbClr val="1C2620"/>
                </a:solidFill>
              </a:rPr>
              <a:t>Do conjunto</a:t>
            </a:r>
          </a:p>
          <a:p xmlns:a="http://schemas.openxmlformats.org/drawingml/2006/main">
            <a:pPr algn="l">
              <a:defRPr sz="4950" b="1">
                <a:solidFill>
                  <a:srgbClr val="1C2620"/>
                </a:solidFill>
              </a:defRPr>
            </a:pPr>
            <a:r>
              <a:rPr sz="4950" b="1">
                <a:solidFill>
                  <a:srgbClr val="1C2620"/>
                </a:solidFill>
              </a:rPr>
              <a:t>ao detalhe.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78B2F-83F9-4F12-87A1-1996A1BD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828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6B63"/>
                </a:solidFill>
              </a:defRPr>
            </a:pPr>
            <a:r>
              <a:rPr sz="1800" b="0">
                <a:solidFill>
                  <a:srgbClr val="5C6B63"/>
                </a:solidFill>
              </a:rPr>
              <a:t>Cada imóvel mantém contrato, cobrança, histórico e documentos no mesmo contexto.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23665-644E-4DA7-93C0-F8297FD2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8953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86248-E400-493F-8775-2754B887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895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03EB1-5831-432F-B997-4F6ED181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81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9799E-D8FA-449D-9F8F-B473534F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81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B8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FD66F-8C60-41AF-8B77-E15BB7CF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81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B0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E3829-22CE-4113-96CD-FB5A7258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434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63"/>
                </a:solidFill>
              </a:defRPr>
            </a:pPr>
            <a:r>
              <a:rPr sz="675" b="0">
                <a:solidFill>
                  <a:srgbClr val="5C6B63"/>
                </a:solidFill>
              </a:rPr>
              <a:t>aluguel.app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65044d97d4c80"/>
          <a:srcRect xmlns:a="http://schemas.openxmlformats.org/drawingml/2006/main" l="0" t="12321" r="0" b="123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772025"/>
            <a:ext cx="8915400" cy="37814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AF3D4C-FC01-498C-989F-928C37AD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0"/>
            <a:ext cx="1619250" cy="19812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432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386F6-126F-468B-883B-732DEC7D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82125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B8863C"/>
                </a:solidFill>
              </a:defRPr>
            </a:pPr>
            <a:r>
              <a:rPr sz="3300" b="1">
                <a:solidFill>
                  <a:srgbClr val="B8863C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6FE37-6CC7-414E-815B-0BBA87C6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39350"/>
            <a:ext cx="1200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imóvel,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toda a história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BF625-2BE0-4610-B41B-6705DEFA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8858250"/>
            <a:ext cx="704850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91153-7550-4E32-81F3-394B223E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8858250"/>
            <a:ext cx="7048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DF6D5B-88AC-47AD-BFD0-361F3870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89630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B5045C-83EC-4558-8D56-26670014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9630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B8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794F13-74F2-48AC-82D4-9EBA90B4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89630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B0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C498AA-9226-4ED8-B66F-128F4417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89249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63"/>
                </a:solidFill>
              </a:defRPr>
            </a:pPr>
            <a:r>
              <a:rPr sz="675" b="0">
                <a:solidFill>
                  <a:srgbClr val="5C6B63"/>
                </a:solidFill>
              </a:rPr>
              <a:t>aluguel.app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48093806446a8"/>
          <a:srcRect xmlns:a="http://schemas.openxmlformats.org/drawingml/2006/main" l="0" t="16566" r="0" b="165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0800" y="9153525"/>
            <a:ext cx="7010400" cy="263842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5725AC-4F60-4CFA-8D67-359CFC57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5867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A099"/>
                </a:solidFill>
              </a:defRPr>
            </a:pPr>
            <a:r>
              <a:rPr sz="900" b="1">
                <a:solidFill>
                  <a:srgbClr val="93A099"/>
                </a:solidFill>
              </a:rPr>
              <a:t>3/6 • Capturas reais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1473396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beff5c51f4562"/>
          <a:stretch xmlns:a="http://schemas.openxmlformats.org/drawingml/2006/main"/>
        </p:blipFill>
        <p:spPr>
          <a:xfrm xmlns:a="http://schemas.openxmlformats.org/drawingml/2006/main">
            <a:off x="666750" y="571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83B49-D556-4E3A-AF44-0DF0BD29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620"/>
                </a:solidFill>
              </a:defRPr>
            </a:pPr>
            <a:r>
              <a:rPr sz="1725" b="1">
                <a:solidFill>
                  <a:srgbClr val="1C2620"/>
                </a:solidFill>
              </a:rPr>
              <a:t>Aluguel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DB9B5-D18E-4348-8ECF-FD9279CC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81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B63"/>
                </a:solidFill>
              </a:defRPr>
            </a:pPr>
            <a:r>
              <a:rPr sz="975" b="1">
                <a:solidFill>
                  <a:srgbClr val="5C6B63"/>
                </a:solidFill>
              </a:rPr>
              <a:t>GESTÃO DE ALUGUÉIS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CCB7E-638F-4A13-AD0D-16818272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1C2620"/>
                </a:solidFill>
              </a:defRPr>
            </a:pPr>
            <a:r>
              <a:rPr sz="4725" b="1">
                <a:solidFill>
                  <a:srgbClr val="1C2620"/>
                </a:solidFill>
              </a:rPr>
              <a:t>Previsto, recebido</a:t>
            </a:r>
          </a:p>
          <a:p xmlns:a="http://schemas.openxmlformats.org/drawingml/2006/main">
            <a:pPr algn="l">
              <a:defRPr sz="4725" b="1">
                <a:solidFill>
                  <a:srgbClr val="1C2620"/>
                </a:solidFill>
              </a:defRPr>
            </a:pPr>
            <a:r>
              <a:rPr sz="4725" b="1">
                <a:solidFill>
                  <a:srgbClr val="1C2620"/>
                </a:solidFill>
              </a:rPr>
              <a:t>e despesas.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81120-E426-4B3C-A4C0-CBFE5379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6B63"/>
                </a:solidFill>
              </a:defRPr>
            </a:pPr>
            <a:r>
              <a:rPr sz="1800" b="0">
                <a:solidFill>
                  <a:srgbClr val="5C6B63"/>
                </a:solidFill>
              </a:rPr>
              <a:t>Registros manuais transformados em visão por imóvel e por mês.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9A00F-62C7-4FBF-A43D-E4353381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8953500" cy="59055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C1062-BC06-4BF4-8AD4-F6CDC7EA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895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54353-12DD-448C-A4F1-E3B3CC5F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81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A636B-0AE6-4E4F-95C5-4C218DFF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81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B8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F44BE-9EB2-41D7-9100-CB975135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81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B0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2861D-06F3-48AE-A36F-453AE231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434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63"/>
                </a:solidFill>
              </a:defRPr>
            </a:pPr>
            <a:r>
              <a:rPr sz="675" b="0">
                <a:solidFill>
                  <a:srgbClr val="5C6B63"/>
                </a:solidFill>
              </a:rPr>
              <a:t>aluguel.app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1cacb6d344c92"/>
          <a:srcRect xmlns:a="http://schemas.openxmlformats.org/drawingml/2006/main" l="0" t="4865" r="0" b="48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772025"/>
            <a:ext cx="8915400" cy="55911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0F8C3-6E30-44A7-976C-9EFF1C26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10875"/>
            <a:ext cx="89535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1E4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13885-F159-4C7B-8A69-5D4BF445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07757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322A"/>
                </a:solidFill>
              </a:defRPr>
            </a:pPr>
            <a:r>
              <a:rPr sz="1800" b="1">
                <a:solidFill>
                  <a:srgbClr val="14322A"/>
                </a:solidFill>
              </a:rPr>
              <a:t>Mais clareza para cobrar, conferir e planejar.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8704D-5378-42C5-AF79-09DB9D90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5867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A099"/>
                </a:solidFill>
              </a:defRPr>
            </a:pPr>
            <a:r>
              <a:rPr sz="900" b="1">
                <a:solidFill>
                  <a:srgbClr val="93A099"/>
                </a:solidFill>
              </a:rPr>
              <a:t>4/6 • Captura real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3706770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32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a1c0aac9c4578"/>
          <a:stretch xmlns:a="http://schemas.openxmlformats.org/drawingml/2006/main"/>
        </p:blipFill>
        <p:spPr>
          <a:xfrm xmlns:a="http://schemas.openxmlformats.org/drawingml/2006/main">
            <a:off x="666750" y="571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BDCEE-867A-4A9E-BCDA-CB611ECC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Aluguel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5244E-122B-4F2E-90CC-6C5B520C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81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9CCC3"/>
                </a:solidFill>
              </a:defRPr>
            </a:pPr>
            <a:r>
              <a:rPr sz="975" b="1">
                <a:solidFill>
                  <a:srgbClr val="B9CCC3"/>
                </a:solidFill>
              </a:rPr>
              <a:t>GESTÃO DE ALUGUÉIS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39FE4-4D25-4DA9-83A5-35BB99F0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Uma área clara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para o inquilino.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412E6-CF34-4793-9E27-9B43EFA6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9D1"/>
                </a:solidFill>
              </a:defRPr>
            </a:pPr>
            <a:r>
              <a:rPr sz="1800" b="0">
                <a:solidFill>
                  <a:srgbClr val="C9D9D1"/>
                </a:solidFill>
              </a:rPr>
              <a:t>Acesso somente leitura aos dados que o locador libera.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BCC9F-6465-4297-A828-E7B01504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400050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863C"/>
          </a:solidFill>
          <a:ln xmlns:a="http://schemas.openxmlformats.org/drawingml/2006/main" w="9525">
            <a:solidFill>
              <a:srgbClr val="B886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439B7-F616-48B4-A9ED-27CB62BA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22A"/>
                </a:solidFill>
              </a:defRPr>
            </a:pPr>
            <a:r>
              <a:rPr sz="1575" b="1">
                <a:solidFill>
                  <a:srgbClr val="14322A"/>
                </a:solidFill>
              </a:rPr>
              <a:t>✓  Contrato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07B5D-EF58-4192-8024-459DE3FF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400050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035"/>
          </a:solidFill>
          <a:ln xmlns:a="http://schemas.openxmlformats.org/drawingml/2006/main" w="9525">
            <a:solidFill>
              <a:srgbClr val="3659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3AED9-019F-493A-A156-616C8382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62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✓  Pagamentos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D9B2B-5CF0-487F-9C8A-3614C8D6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19875"/>
            <a:ext cx="400050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035"/>
          </a:solidFill>
          <a:ln xmlns:a="http://schemas.openxmlformats.org/drawingml/2006/main" w="9525">
            <a:solidFill>
              <a:srgbClr val="3659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E99D4-1B50-439B-B34F-9EDDB8AA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19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✓  Energia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6BC2E-A007-4D6A-865A-99107108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77125"/>
            <a:ext cx="400050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035"/>
          </a:solidFill>
          <a:ln xmlns:a="http://schemas.openxmlformats.org/drawingml/2006/main" w="9525">
            <a:solidFill>
              <a:srgbClr val="3659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9C3C1-FA3A-4C5C-A39D-427B4C4C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77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✓  Arquivos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C1873-21C5-4EF2-A652-D04FEB67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3905250" cy="87630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A1C17"/>
          </a:solidFill>
          <a:ln xmlns:a="http://schemas.openxmlformats.org/drawingml/2006/main" w="19050">
            <a:solidFill>
              <a:srgbClr val="4267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9EF51-716C-4CEF-961D-B4E2EF49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09750"/>
            <a:ext cx="971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75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d60b54c0340b6"/>
          <a:srcRect xmlns:a="http://schemas.openxmlformats.org/drawingml/2006/main" l="1614" t="0" r="16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8350" y="2133600"/>
            <a:ext cx="3448050" cy="7715250"/>
          </a:xfrm>
          <a:prstGeom xmlns:a="http://schemas.openxmlformats.org/drawingml/2006/main" prst="roundRect">
            <a:avLst>
              <a:gd name="adj" fmla="val 3315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8BA73-444B-43A9-96F8-4AC2ABED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0"/>
            <a:ext cx="88582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4035"/>
          </a:solidFill>
          <a:ln xmlns:a="http://schemas.openxmlformats.org/drawingml/2006/main" w="9525">
            <a:solidFill>
              <a:srgbClr val="36594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53D8C-B808-4C20-B10B-E2701E7A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106150"/>
            <a:ext cx="824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8863C"/>
                </a:solidFill>
              </a:defRPr>
            </a:pPr>
            <a:r>
              <a:rPr sz="1725" b="1">
                <a:solidFill>
                  <a:srgbClr val="B8863C"/>
                </a:solidFill>
              </a:rPr>
              <a:t>Menos mensagens repetidas. Mais autonomia com controle.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E3E89-16A4-429E-997B-C428210E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5867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5BA"/>
                </a:solidFill>
              </a:defRPr>
            </a:pPr>
            <a:r>
              <a:rPr sz="900" b="1">
                <a:solidFill>
                  <a:srgbClr val="AFC5BA"/>
                </a:solidFill>
              </a:rPr>
              <a:t>5/6 • Captura real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10968816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32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cb82146884446"/>
          <a:stretch xmlns:a="http://schemas.openxmlformats.org/drawingml/2006/main"/>
        </p:blipFill>
        <p:spPr>
          <a:xfrm xmlns:a="http://schemas.openxmlformats.org/drawingml/2006/main">
            <a:off x="666750" y="571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A93FD-B824-4936-9392-561B2528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Aluguel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2AB37-9D14-43B1-A92F-AC542C9B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81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9CCC3"/>
                </a:solidFill>
              </a:defRPr>
            </a:pPr>
            <a:r>
              <a:rPr sz="975" b="1">
                <a:solidFill>
                  <a:srgbClr val="B9CCC3"/>
                </a:solidFill>
              </a:rPr>
              <a:t>GESTÃO DE ALUGUÉIS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8A21F-18D1-44A9-9470-B4967C48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Veja sua rotina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dentro do Aluguel.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9F1AB-AD58-40B5-BD5D-AA1EFC58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D9D1"/>
                </a:solidFill>
              </a:defRPr>
            </a:pPr>
            <a:r>
              <a:rPr sz="1875" b="0">
                <a:solidFill>
                  <a:srgbClr val="C9D9D1"/>
                </a:solidFill>
              </a:rPr>
              <a:t>Solicite uma demonstração ou comece grátis com 1 imóvel.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C43DF-CD90-4DD6-A47E-E9C8C910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8953500" cy="5334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e61b82e8245da"/>
          <a:stretch xmlns:a="http://schemas.openxmlformats.org/drawingml/2006/main"/>
        </p:blipFill>
        <p:spPr>
          <a:xfrm xmlns:a="http://schemas.openxmlformats.org/drawingml/2006/main">
            <a:off x="1428750" y="5572125"/>
            <a:ext cx="3714750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90AAD-BC7C-4F39-9928-4EAC1D94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9531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C631F"/>
                </a:solidFill>
              </a:defRPr>
            </a:pPr>
            <a:r>
              <a:rPr sz="1125" b="1">
                <a:solidFill>
                  <a:srgbClr val="8C631F"/>
                </a:solidFill>
              </a:rPr>
              <a:t>ABRA O APLICATIVO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A3D2C-16AA-4B2C-BA69-6FBBDF2C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4960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C2620"/>
                </a:solidFill>
              </a:defRPr>
            </a:pPr>
            <a:r>
              <a:rPr sz="3375" b="1">
                <a:solidFill>
                  <a:srgbClr val="1C2620"/>
                </a:solidFill>
              </a:rPr>
              <a:t>Começar</a:t>
            </a:r>
          </a:p>
          <a:p xmlns:a="http://schemas.openxmlformats.org/drawingml/2006/main">
            <a:pPr algn="l">
              <a:defRPr sz="3375" b="1">
                <a:solidFill>
                  <a:srgbClr val="1C2620"/>
                </a:solidFill>
              </a:defRPr>
            </a:pPr>
            <a:r>
              <a:rPr sz="3375" b="1">
                <a:solidFill>
                  <a:srgbClr val="1C2620"/>
                </a:solidFill>
              </a:rPr>
              <a:t>grátis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7F06B-15FB-44E5-B548-BF1E7B7E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7810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22A"/>
                </a:solidFill>
              </a:defRPr>
            </a:pPr>
            <a:r>
              <a:rPr sz="1650" b="1">
                <a:solidFill>
                  <a:srgbClr val="14322A"/>
                </a:solidFill>
              </a:rPr>
              <a:t>aluguel-casas-anderton</a:t>
            </a:r>
          </a:p>
          <a:p xmlns:a="http://schemas.openxmlformats.org/drawingml/2006/main">
            <a:pPr algn="l">
              <a:defRPr sz="1650" b="1">
                <a:solidFill>
                  <a:srgbClr val="14322A"/>
                </a:solidFill>
              </a:defRPr>
            </a:pPr>
            <a:r>
              <a:rPr sz="1650" b="1">
                <a:solidFill>
                  <a:srgbClr val="14322A"/>
                </a:solidFill>
              </a:rPr>
              <a:t>.netlify.app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81269-8392-4292-B1C4-C1DE4B33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88582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3"/>
                </a:solidFill>
              </a:defRPr>
            </a:pPr>
            <a:r>
              <a:rPr sz="1200" b="0">
                <a:solidFill>
                  <a:srgbClr val="5C6B63"/>
                </a:solidFill>
              </a:rPr>
              <a:t>Demonstração comercial: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88FBB-C169-4B67-8AD5-61AD78DF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92011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22A"/>
                </a:solidFill>
              </a:defRPr>
            </a:pPr>
            <a:r>
              <a:rPr sz="1350" b="1">
                <a:solidFill>
                  <a:srgbClr val="14322A"/>
                </a:solidFill>
              </a:rPr>
              <a:t>andertonaluguel@gmail.com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CB24B-E98D-475A-894D-14AFC8F3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53700"/>
            <a:ext cx="8953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B4035"/>
          </a:solidFill>
          <a:ln xmlns:a="http://schemas.openxmlformats.org/drawingml/2006/main" w="9525">
            <a:solidFill>
              <a:srgbClr val="36594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24CC1-8CB5-4B49-9E87-4E5B01A9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848975"/>
            <a:ext cx="834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8863C"/>
                </a:solidFill>
              </a:defRPr>
            </a:pPr>
            <a:r>
              <a:rPr sz="1500" b="1">
                <a:solidFill>
                  <a:srgbClr val="B8863C"/>
                </a:solidFill>
              </a:rPr>
              <a:t>WhatsApp oficial será incluído após a confirmação do número com DDD.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FB203-817D-425F-8B28-4593F92A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5867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5BA"/>
                </a:solidFill>
              </a:defRPr>
            </a:pPr>
            <a:r>
              <a:rPr sz="900" b="1">
                <a:solidFill>
                  <a:srgbClr val="AFC5BA"/>
                </a:solidFill>
              </a:rPr>
              <a:t>6/6 • Aluguel — cada aluguel no lugar certo</a:t>
            </a:r>
          </a:p>
        </p:txBody>
      </p:sp>
    </p:spTree>
    <p:extLst>
      <p:ext uri="{BB962C8B-B14F-4D97-AF65-F5344CB8AC3E}">
        <p14:creationId xmlns:p14="http://schemas.microsoft.com/office/powerpoint/2010/main" val="1879103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2026-07-25T19:50:30.1170000Z</dcterms:created>
  <dcterms:modified xsi:type="dcterms:W3CDTF">2026-07-25T19:50:30.1170000Z</dcterms:modified>
</coreProperties>
</file>