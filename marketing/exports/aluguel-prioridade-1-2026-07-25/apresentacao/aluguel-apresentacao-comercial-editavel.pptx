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d85d56ede4ff4" /><Relationship Type="http://schemas.openxmlformats.org/officeDocument/2006/relationships/extended-properties" Target="/docProps/app.xml" Id="R338b4333e0234ecf" /><Relationship Type="http://schemas.openxmlformats.org/officeDocument/2006/relationships/officeDocument" Target="/ppt/presentation.xml" Id="Rc438342c516f45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e72bab2524d7d"/>
  </p:sldMasterIdLst>
  <p:notesMasterIdLst>
    <p:notesMasterId xmlns:r="http://schemas.openxmlformats.org/officeDocument/2006/relationships" r:id="Rc9a1d069e62e4f7e"/>
  </p:notesMasterIdLst>
  <p:sldIdLst>
    <p:sldId xmlns:r="http://schemas.openxmlformats.org/officeDocument/2006/relationships" id="256" r:id="R26964875ba6845f4"/>
    <p:sldId xmlns:r="http://schemas.openxmlformats.org/officeDocument/2006/relationships" id="257" r:id="R60877a28670b48ff"/>
    <p:sldId xmlns:r="http://schemas.openxmlformats.org/officeDocument/2006/relationships" id="258" r:id="R814e909f81c24cc9"/>
    <p:sldId xmlns:r="http://schemas.openxmlformats.org/officeDocument/2006/relationships" id="259" r:id="R336078fa7a9b4e60"/>
    <p:sldId xmlns:r="http://schemas.openxmlformats.org/officeDocument/2006/relationships" id="260" r:id="R9eba7ee15e584069"/>
    <p:sldId xmlns:r="http://schemas.openxmlformats.org/officeDocument/2006/relationships" id="261" r:id="Rfde54d911eaf43ec"/>
    <p:sldId xmlns:r="http://schemas.openxmlformats.org/officeDocument/2006/relationships" id="262" r:id="Re2b802289b844b02"/>
    <p:sldId xmlns:r="http://schemas.openxmlformats.org/officeDocument/2006/relationships" id="263" r:id="R50fc3c0e4fcd4468"/>
    <p:sldId xmlns:r="http://schemas.openxmlformats.org/officeDocument/2006/relationships" id="264" r:id="R54cda19fce8342e1"/>
    <p:sldId xmlns:r="http://schemas.openxmlformats.org/officeDocument/2006/relationships" id="265" r:id="R938b999b5fb74682"/>
    <p:sldId xmlns:r="http://schemas.openxmlformats.org/officeDocument/2006/relationships" id="266" r:id="R6faff3954e0e443d"/>
    <p:sldId xmlns:r="http://schemas.openxmlformats.org/officeDocument/2006/relationships" id="267" r:id="R18b6371170ea4973"/>
    <p:sldId xmlns:r="http://schemas.openxmlformats.org/officeDocument/2006/relationships" id="268" r:id="R50881bc1f96f428e"/>
    <p:sldId xmlns:r="http://schemas.openxmlformats.org/officeDocument/2006/relationships" id="269" r:id="Ra38844301130469e"/>
    <p:sldId xmlns:r="http://schemas.openxmlformats.org/officeDocument/2006/relationships" id="270" r:id="Rdcf8125f2d1a4d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1a96aeeea4d35" /><Relationship Type="http://schemas.openxmlformats.org/officeDocument/2006/relationships/slideMaster" Target="/ppt/slideMasters/slideMaster1.xml" Id="R448e72bab2524d7d" /><Relationship Type="http://schemas.openxmlformats.org/officeDocument/2006/relationships/notesMaster" Target="/ppt/notesMasters/notesMaster1.xml" Id="Rc9a1d069e62e4f7e" /><Relationship Type="http://schemas.openxmlformats.org/officeDocument/2006/relationships/presProps" Target="/ppt/presProps.xml" Id="Rc8602a3adaa34743" /><Relationship Type="http://schemas.openxmlformats.org/officeDocument/2006/relationships/tableStyles" Target="/ppt/tableStyles.xml" Id="R44ecb7c0b4d145ea" /><Relationship Type="http://schemas.openxmlformats.org/officeDocument/2006/relationships/slide" Target="/ppt/slides/slide1.xml" Id="R26964875ba6845f4" /><Relationship Type="http://schemas.openxmlformats.org/officeDocument/2006/relationships/slide" Target="/ppt/slides/slide2.xml" Id="R60877a28670b48ff" /><Relationship Type="http://schemas.openxmlformats.org/officeDocument/2006/relationships/slide" Target="/ppt/slides/slide3.xml" Id="R814e909f81c24cc9" /><Relationship Type="http://schemas.openxmlformats.org/officeDocument/2006/relationships/slide" Target="/ppt/slides/slide4.xml" Id="R336078fa7a9b4e60" /><Relationship Type="http://schemas.openxmlformats.org/officeDocument/2006/relationships/slide" Target="/ppt/slides/slide5.xml" Id="R9eba7ee15e584069" /><Relationship Type="http://schemas.openxmlformats.org/officeDocument/2006/relationships/slide" Target="/ppt/slides/slide6.xml" Id="Rfde54d911eaf43ec" /><Relationship Type="http://schemas.openxmlformats.org/officeDocument/2006/relationships/slide" Target="/ppt/slides/slide7.xml" Id="Re2b802289b844b02" /><Relationship Type="http://schemas.openxmlformats.org/officeDocument/2006/relationships/slide" Target="/ppt/slides/slide8.xml" Id="R50fc3c0e4fcd4468" /><Relationship Type="http://schemas.openxmlformats.org/officeDocument/2006/relationships/slide" Target="/ppt/slides/slide9.xml" Id="R54cda19fce8342e1" /><Relationship Type="http://schemas.openxmlformats.org/officeDocument/2006/relationships/slide" Target="/ppt/slides/slide10.xml" Id="R938b999b5fb74682" /><Relationship Type="http://schemas.openxmlformats.org/officeDocument/2006/relationships/slide" Target="/ppt/slides/slide11.xml" Id="R6faff3954e0e443d" /><Relationship Type="http://schemas.openxmlformats.org/officeDocument/2006/relationships/slide" Target="/ppt/slides/slide12.xml" Id="R18b6371170ea4973" /><Relationship Type="http://schemas.openxmlformats.org/officeDocument/2006/relationships/slide" Target="/ppt/slides/slide13.xml" Id="R50881bc1f96f428e" /><Relationship Type="http://schemas.openxmlformats.org/officeDocument/2006/relationships/slide" Target="/ppt/slides/slide14.xml" Id="Ra38844301130469e" /><Relationship Type="http://schemas.openxmlformats.org/officeDocument/2006/relationships/slide" Target="/ppt/slides/slide15.xml" Id="Rdcf8125f2d1a4d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d77f09656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5730208b64219" /><Relationship Type="http://schemas.openxmlformats.org/officeDocument/2006/relationships/notesMaster" Target="/ppt/notesMasters/notesMaster1.xml" Id="R5d070037393a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e6261ba05a4ed7" /><Relationship Type="http://schemas.openxmlformats.org/officeDocument/2006/relationships/notesMaster" Target="/ppt/notesMasters/notesMaster1.xml" Id="R2a7f3692a1424c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a4d86526ed43e4" /><Relationship Type="http://schemas.openxmlformats.org/officeDocument/2006/relationships/notesMaster" Target="/ppt/notesMasters/notesMaster1.xml" Id="Rd7fef0a8aa3a42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74f5c24214aa0" /><Relationship Type="http://schemas.openxmlformats.org/officeDocument/2006/relationships/notesMaster" Target="/ppt/notesMasters/notesMaster1.xml" Id="R09ad6312c453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1144e8f6a9406a" /><Relationship Type="http://schemas.openxmlformats.org/officeDocument/2006/relationships/notesMaster" Target="/ppt/notesMasters/notesMaster1.xml" Id="Refa45312011d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6963ae9e864194" /><Relationship Type="http://schemas.openxmlformats.org/officeDocument/2006/relationships/notesMaster" Target="/ppt/notesMasters/notesMaster1.xml" Id="R9829717945d84a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0c23f54e74450b" /><Relationship Type="http://schemas.openxmlformats.org/officeDocument/2006/relationships/notesMaster" Target="/ppt/notesMasters/notesMaster1.xml" Id="Rf10ab6202ef546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a8fac1e31e4e11" /><Relationship Type="http://schemas.openxmlformats.org/officeDocument/2006/relationships/notesMaster" Target="/ppt/notesMasters/notesMaster1.xml" Id="Reaae84ef07f44d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c72c0285544201" /><Relationship Type="http://schemas.openxmlformats.org/officeDocument/2006/relationships/notesMaster" Target="/ppt/notesMasters/notesMaster1.xml" Id="Rafb175d9f0f54c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04d05424ea492b" /><Relationship Type="http://schemas.openxmlformats.org/officeDocument/2006/relationships/notesMaster" Target="/ppt/notesMasters/notesMaster1.xml" Id="R529833df9f1a45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a437419f4b4127" /><Relationship Type="http://schemas.openxmlformats.org/officeDocument/2006/relationships/notesMaster" Target="/ppt/notesMasters/notesMaster1.xml" Id="Rf3fce0ea622c4a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4a78e1eb4a4297" /><Relationship Type="http://schemas.openxmlformats.org/officeDocument/2006/relationships/notesMaster" Target="/ppt/notesMasters/notesMaster1.xml" Id="Re5e4430389b047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0223efb0cf47f2" /><Relationship Type="http://schemas.openxmlformats.org/officeDocument/2006/relationships/notesMaster" Target="/ppt/notesMasters/notesMaster1.xml" Id="Rcda2b01293014e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255800c9c04ed1" /><Relationship Type="http://schemas.openxmlformats.org/officeDocument/2006/relationships/notesMaster" Target="/ppt/notesMasters/notesMaster1.xml" Id="R4356a183416a40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226817284c4233" /><Relationship Type="http://schemas.openxmlformats.org/officeDocument/2006/relationships/notesMaster" Target="/ppt/notesMasters/notesMaster1.xml" Id="R3b38c36af197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d0b514f14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7e8a770044246" /><Relationship Type="http://schemas.openxmlformats.org/officeDocument/2006/relationships/slideLayout" Target="/ppt/slideLayouts/slideLayout1.xml" Id="R4f861d69974f41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861d69974f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96ddc9d7a4c2e" /><Relationship Type="http://schemas.openxmlformats.org/officeDocument/2006/relationships/image" Target="/ppt/media/image.png" Id="R95124ebfd8224890" /><Relationship Type="http://schemas.openxmlformats.org/officeDocument/2006/relationships/image" Target="/ppt/media/image.jpeg" Id="Rdb3d9b48c7204421" /><Relationship Type="http://schemas.openxmlformats.org/officeDocument/2006/relationships/notesSlide" Target="/ppt/notesSlides/notesSlide1.xml" Id="R5124f15689084f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98221eebe4b5f" /><Relationship Type="http://schemas.openxmlformats.org/officeDocument/2006/relationships/notesSlide" Target="/ppt/notesSlides/notesSlide2.xml" Id="R6d46f9178488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a360850f49a1" /><Relationship Type="http://schemas.openxmlformats.org/officeDocument/2006/relationships/notesSlide" Target="/ppt/notesSlides/notesSlide3.xml" Id="R503b3084a351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8558a4ee24980" /><Relationship Type="http://schemas.openxmlformats.org/officeDocument/2006/relationships/image" Target="/ppt/media/image2.jpeg" Id="Rbbb67dbc995f42b9" /><Relationship Type="http://schemas.openxmlformats.org/officeDocument/2006/relationships/notesSlide" Target="/ppt/notesSlides/notesSlide4.xml" Id="R8a1e2af09d33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457f93c4c4e0a" /><Relationship Type="http://schemas.openxmlformats.org/officeDocument/2006/relationships/image" Target="/ppt/media/image3.jpeg" Id="R571338ffff9147ec" /><Relationship Type="http://schemas.openxmlformats.org/officeDocument/2006/relationships/notesSlide" Target="/ppt/notesSlides/notesSlide5.xml" Id="R5fb9391e05fc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e4cfdfbe94caa" /><Relationship Type="http://schemas.openxmlformats.org/officeDocument/2006/relationships/image" Target="/ppt/media/image4.jpeg" Id="Rfa8182556bca46f1" /><Relationship Type="http://schemas.openxmlformats.org/officeDocument/2006/relationships/notesSlide" Target="/ppt/notesSlides/notesSlide6.xml" Id="R09556b0443224b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eba0e42464d91" /><Relationship Type="http://schemas.openxmlformats.org/officeDocument/2006/relationships/image" Target="/ppt/media/image5.jpeg" Id="R558f8f79ded74c74" /><Relationship Type="http://schemas.openxmlformats.org/officeDocument/2006/relationships/notesSlide" Target="/ppt/notesSlides/notesSlide7.xml" Id="R49ec1712f1a74d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3c9f8c5664eb3" /><Relationship Type="http://schemas.openxmlformats.org/officeDocument/2006/relationships/image" Target="/ppt/media/image6.jpeg" Id="Rc244e39cdce440a1" /><Relationship Type="http://schemas.openxmlformats.org/officeDocument/2006/relationships/image" Target="/ppt/media/image7.jpeg" Id="R602a25205f9343a2" /><Relationship Type="http://schemas.openxmlformats.org/officeDocument/2006/relationships/notesSlide" Target="/ppt/notesSlides/notesSlide8.xml" Id="R143a2a0d0c074a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d8acc7abc4a4f" /><Relationship Type="http://schemas.openxmlformats.org/officeDocument/2006/relationships/image" Target="/ppt/media/image8.jpeg" Id="R3c58c16b5b8044aa" /><Relationship Type="http://schemas.openxmlformats.org/officeDocument/2006/relationships/notesSlide" Target="/ppt/notesSlides/notesSlide9.xml" Id="Rddf5aae76b2542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b6925f886421d" /><Relationship Type="http://schemas.openxmlformats.org/officeDocument/2006/relationships/notesSlide" Target="/ppt/notesSlides/notesSlide10.xml" Id="Rb55610e1c7904c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d303a817f4f42" /><Relationship Type="http://schemas.openxmlformats.org/officeDocument/2006/relationships/notesSlide" Target="/ppt/notesSlides/notesSlide11.xml" Id="R4cf2c2160a2b4a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45704904248bb" /><Relationship Type="http://schemas.openxmlformats.org/officeDocument/2006/relationships/notesSlide" Target="/ppt/notesSlides/notesSlide12.xml" Id="R8e8ba234255b42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26aa963124fab" /><Relationship Type="http://schemas.openxmlformats.org/officeDocument/2006/relationships/notesSlide" Target="/ppt/notesSlides/notesSlide13.xml" Id="R8f0146bd92234d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e2cb458434eb9" /><Relationship Type="http://schemas.openxmlformats.org/officeDocument/2006/relationships/notesSlide" Target="/ppt/notesSlides/notesSlide14.xml" Id="Raca3745a923341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699d29ab24439" /><Relationship Type="http://schemas.openxmlformats.org/officeDocument/2006/relationships/image" Target="/ppt/media/image2.png" Id="R0d9f2f7b77bc43bd" /><Relationship Type="http://schemas.openxmlformats.org/officeDocument/2006/relationships/image" Target="/ppt/media/image3.png" Id="R0dc5b8f521144560" /><Relationship Type="http://schemas.openxmlformats.org/officeDocument/2006/relationships/notesSlide" Target="/ppt/notesSlides/notesSlide15.xml" Id="R04bf4666e16d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D70AE-A382-4F2C-B121-38A0CF5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"/>
            <a:ext cx="3619500" cy="3619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05A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3A314-BFDE-41C4-95A2-DBBC237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D665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24ebfd8224890"/>
          <a:stretch xmlns:a="http://schemas.openxmlformats.org/drawingml/2006/main"/>
        </p:blipFill>
        <p:spPr>
          <a:xfrm xmlns:a="http://schemas.openxmlformats.org/drawingml/2006/main">
            <a:off x="647700" y="4953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C4941-E4B8-40B4-9E3C-9A692DE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Aluguel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B21F3-A0D6-48EB-9751-86599AB0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863C"/>
                </a:solidFill>
              </a:defRPr>
            </a:pPr>
            <a:r>
              <a:rPr sz="900" b="1">
                <a:solidFill>
                  <a:srgbClr val="B8863C"/>
                </a:solidFill>
              </a:rPr>
              <a:t>GESTÃO DE ALUGUÉIS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325CF-5B8A-4BA5-BC57-456F9FA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4619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Da casa vaga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ao pagamento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recebido.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34E06-1FF0-422E-9BC3-A0EF0F9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17EC4-D093-4252-BFC6-DC64ED4D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9D1"/>
                </a:solidFill>
              </a:defRPr>
            </a:pPr>
            <a:r>
              <a:rPr sz="1500" b="0">
                <a:solidFill>
                  <a:srgbClr val="C9D9D1"/>
                </a:solidFill>
              </a:rPr>
              <a:t>Uma visão organizada de imóveis, contratos, cobranças e documentos — feita para pequenos locadores.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9C276-6341-459B-A50E-EAD9424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6572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3E1C6-17EE-413D-BFB8-9286A18B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657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1507D-A27F-417A-BA5E-3893D678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533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10434-EB8E-4564-BE40-F58A1477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33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97AD6-F62C-4B5E-BF98-673BF326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533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91938-C4D5-4D19-B4A9-2209033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954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d9b48c7204421"/>
          <a:srcRect xmlns:a="http://schemas.openxmlformats.org/drawingml/2006/main" l="2566" t="0" r="25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0175" y="1724025"/>
            <a:ext cx="6534150" cy="38766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7A7DB-1113-4B71-B853-0CFFBA8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865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FC5BA"/>
                </a:solidFill>
              </a:defRPr>
            </a:pPr>
            <a:r>
              <a:rPr sz="750" b="1">
                <a:solidFill>
                  <a:srgbClr val="AFC5BA"/>
                </a:solidFill>
              </a:rPr>
              <a:t>PRODUTO REAL • DADOS DEMONSTRATIVOS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10621-2FA9-4756-84BF-72EC9D1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863C"/>
                </a:solidFill>
              </a:defRPr>
            </a:pPr>
            <a:r>
              <a:rPr sz="750" b="1">
                <a:solidFill>
                  <a:srgbClr val="B8863C"/>
                </a:solidFill>
              </a:rPr>
              <a:t>Aluguel Comercial 1.0</a:t>
            </a:r>
          </a:p>
        </p:txBody>
      </p:sp>
    </p:spTree>
    <p:extLst>
      <p:ext uri="{BB962C8B-B14F-4D97-AF65-F5344CB8AC3E}">
        <p14:creationId xmlns:p14="http://schemas.microsoft.com/office/powerpoint/2010/main" val="233631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45B70-3C87-4A6A-9E99-E76BF38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4AC1F-4B30-4A21-A555-8D52DE1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A informação existe. O difícil é encontrá-la na hora certa.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888F2-809D-4C7E-88A3-3CF17C7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Quando a operação se espalha, perguntas simples exigem conferências demoradas.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92361-B90F-4E7E-B290-2A93A99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CC86C-69C9-4FAB-BA37-4FED563E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4E85E-A690-4800-B087-F04CFCB2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7A532-A9D6-43E0-9C6F-988EA362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67D15-D3D8-4DD5-89DD-A01F0C38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43176-14A2-4ABB-A709-D69DEAB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620"/>
                </a:solidFill>
              </a:defRPr>
            </a:pPr>
            <a:r>
              <a:rPr sz="1800" b="1">
                <a:solidFill>
                  <a:srgbClr val="1C2620"/>
                </a:solidFill>
              </a:rPr>
              <a:t>Planilhas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6647A-F92A-4A30-ACA4-136658A7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Recebimentos e despesas ficam separados do imóvel e do contrato que explicam cada valor.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4DECD-ED15-456E-8363-6117CAAB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D5C36-75A4-4C7D-AF2A-474C3AB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ED0E7-9469-4383-AE16-43B0E70E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7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4DBD-2098-4A33-89EA-AC59B4F2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813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620"/>
                </a:solidFill>
              </a:defRPr>
            </a:pPr>
            <a:r>
              <a:rPr sz="1800" b="1">
                <a:solidFill>
                  <a:srgbClr val="1C2620"/>
                </a:solidFill>
              </a:rPr>
              <a:t>Conversas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0D6AB-6014-458B-B53D-EA13DA2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57550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Cobranças, interessados e combinações importantes se perdem em históricos difíceis de consultar.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7CE8-F35B-4706-AFB6-51AF4D4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B07D5-E0FB-4561-A39B-194A7C6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D7B27-FAFE-4F8F-9F1C-34948C74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E6B8A"/>
                </a:solidFill>
              </a:defRPr>
            </a:pPr>
            <a:r>
              <a:rPr sz="825" b="1">
                <a:solidFill>
                  <a:srgbClr val="3E6B8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FB7EA-1AD2-469B-BE8A-5CE7B764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620"/>
                </a:solidFill>
              </a:defRPr>
            </a:pPr>
            <a:r>
              <a:rPr sz="1800" b="1">
                <a:solidFill>
                  <a:srgbClr val="1C2620"/>
                </a:solidFill>
              </a:rPr>
              <a:t>Arquivos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3BE3C-B8F4-4930-A563-7517E31F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838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Fotos, contratos, recibos e leituras ficam sem vínculo claro com a rotina de cada casa.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E2A91-3ED0-4C7D-83C5-10B3BC16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22A"/>
                </a:solidFill>
              </a:defRPr>
            </a:pPr>
            <a:r>
              <a:rPr sz="1725" b="1">
                <a:solidFill>
                  <a:srgbClr val="14322A"/>
                </a:solidFill>
              </a:rPr>
              <a:t>O resultado é menos clareza para decidir o próximo passo.</a:t>
            </a:r>
          </a:p>
        </p:txBody>
      </p:sp>
    </p:spTree>
    <p:extLst>
      <p:ext uri="{BB962C8B-B14F-4D97-AF65-F5344CB8AC3E}">
        <p14:creationId xmlns:p14="http://schemas.microsoft.com/office/powerpoint/2010/main" val="99173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17523-BB63-485C-BA68-D041065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27163-14BC-4E94-B44D-C3E8B9F2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Uma operação conectada, da entrada à consulta.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9BFD0-986E-4B21-A095-3CDE6E3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9D1"/>
                </a:solidFill>
              </a:defRPr>
            </a:pPr>
            <a:r>
              <a:rPr sz="1350" b="0">
                <a:solidFill>
                  <a:srgbClr val="C9D9D1"/>
                </a:solidFill>
              </a:rPr>
              <a:t>O Aluguel reúne as etapas essenciais sem esconder as confirmações que ainda dependem do usuário.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76970-A582-4CCC-B81A-79D718D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CC3"/>
                </a:solidFill>
              </a:defRPr>
            </a:pPr>
            <a:r>
              <a:rPr sz="750" b="1">
                <a:solidFill>
                  <a:srgbClr val="B9CCC3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795A7-FB8A-49BC-946C-DA1CDDCE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73CF1-B793-41D2-BD75-1FB3852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924050" cy="20383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0435E-D41E-40BC-9D08-79CDB09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EDE23-7F8F-4457-86D4-5D1ECD1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Cadastrar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72A6A-45F0-479B-9B6E-F0FB9206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Imóvel e pessoas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2977C-FAB0-4609-A09B-E44900D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63C"/>
                </a:solidFill>
              </a:defRPr>
            </a:pPr>
            <a:r>
              <a:rPr sz="1650" b="1">
                <a:solidFill>
                  <a:srgbClr val="B8863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F425D-4C9C-499D-B074-35150B03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1924050" cy="20383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AA5BB-2018-4F79-8A3C-F49695F9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81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2B3DA-5988-47CF-8083-5DEAEAF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95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Contratar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C3C9E-8504-4B92-AA51-7DEFAB3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29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Período e vencimento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FE217-E019-4BDF-9623-F28CA61F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63C"/>
                </a:solidFill>
              </a:defRPr>
            </a:pPr>
            <a:r>
              <a:rPr sz="1650" b="1">
                <a:solidFill>
                  <a:srgbClr val="B8863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D91EA-EC0B-4609-9D65-40DC17E6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1924050" cy="20383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81881-5D24-486B-B140-27A9568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35C39-7026-4CAC-B298-E7146FDB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Acompanhar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23D93-7BFE-417D-BE9C-4DFC1EC2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29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Aluguel, energia e despesas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E326B-3D6F-420B-9484-EC4EB23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63C"/>
                </a:solidFill>
              </a:defRPr>
            </a:pPr>
            <a:r>
              <a:rPr sz="1650" b="1">
                <a:solidFill>
                  <a:srgbClr val="B8863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0EC37-0AEE-4342-B9E3-7553703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1924050" cy="20383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EA7AB-BB91-4C64-BB94-CDE6D121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81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DFA35-E0F7-43F3-83CA-A159C98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95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Cobrar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0C159-8B39-4873-9E8F-4BE5235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29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WhatsApp e PIX manuais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2B7EF-99E3-4496-BBCE-73FF9C7B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52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63C"/>
                </a:solidFill>
              </a:defRPr>
            </a:pPr>
            <a:r>
              <a:rPr sz="1650" b="1">
                <a:solidFill>
                  <a:srgbClr val="B8863C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F75CA-24EF-4C6D-A89B-D114655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1924050" cy="20383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18A1E-A96F-4BC8-9DE2-663628E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D98B8-41A9-4FD7-8FF6-F0F4E9D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95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620"/>
                </a:solidFill>
              </a:defRPr>
            </a:pPr>
            <a:r>
              <a:rPr sz="1875" b="1">
                <a:solidFill>
                  <a:srgbClr val="1C2620"/>
                </a:solidFill>
              </a:rPr>
              <a:t>Consultar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41C31-28DC-453C-A03C-9971E68B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29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63"/>
                </a:solidFill>
              </a:defRPr>
            </a:pPr>
            <a:r>
              <a:rPr sz="1125" b="0">
                <a:solidFill>
                  <a:srgbClr val="5C6B63"/>
                </a:solidFill>
              </a:rPr>
              <a:t>Painel, relatórios e portal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84B5E-D1E9-42E8-AAF3-1E18D14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E2DC"/>
                </a:solidFill>
              </a:defRPr>
            </a:pPr>
            <a:r>
              <a:rPr sz="1425" b="1">
                <a:solidFill>
                  <a:srgbClr val="D6E2DC"/>
                </a:solidFill>
              </a:rPr>
              <a:t>Gestão assistida: o sistema organiza e prepara; o responsável confirma e envia.</a:t>
            </a:r>
          </a:p>
        </p:txBody>
      </p:sp>
    </p:spTree>
    <p:extLst>
      <p:ext uri="{BB962C8B-B14F-4D97-AF65-F5344CB8AC3E}">
        <p14:creationId xmlns:p14="http://schemas.microsoft.com/office/powerpoint/2010/main" val="556714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CE0B1-AB08-4530-95C7-885D7923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90259-B8A8-4736-B670-16DD2A0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Comece o dia sabendo o que exige atenção.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36795-BAD8-4EFC-ABBC-B92A5AE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Previsto, recebido, pendências, ocupação, manutenção e movimentações em uma visão única.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357A8-DA63-44E0-B9EB-3A5CD1A5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290B5-05F5-46F7-BBCB-1397BE3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42B6F-0ABE-42A7-AC69-3C4A3D8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286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70BBE-4925-45BD-84B9-E051C22E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28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C67EA-3B71-40F2-A16A-80E36C9A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EB832-22F5-4715-A72A-C30F3C06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6287E-CC5A-4483-8CC4-45527F2B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4B1CA-BAEE-4CB6-AD07-3775826F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67dbc995f42b9"/>
          <a:srcRect xmlns:a="http://schemas.openxmlformats.org/drawingml/2006/main" l="0" t="9276" r="0" b="9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409825"/>
            <a:ext cx="8248650" cy="37814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B0BDD-3659-4A7A-ABBF-C9A5897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3431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DCF37-9AC0-4BAB-9D8C-CB20A16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6667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1E301-CCAE-4F8E-A3D1-61E28CE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2620"/>
                </a:solidFill>
              </a:defRPr>
            </a:pPr>
            <a:r>
              <a:rPr sz="1650" b="1">
                <a:solidFill>
                  <a:srgbClr val="1C2620"/>
                </a:solidFill>
              </a:rPr>
              <a:t>O mês em 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06959-0EBE-41DB-BC95-00D187F2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47975"/>
            <a:ext cx="1847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Aluguel, energia e recebido aparecem lado a lado.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176BB-1556-46FD-A5A7-F17E6DC3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23431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4B0C4-5E75-4251-ADEA-A02D43A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41AE1-BAA6-4FC9-9ABA-D5DDBA0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2620"/>
                </a:solidFill>
              </a:defRPr>
            </a:pPr>
            <a:r>
              <a:rPr sz="1650" b="1">
                <a:solidFill>
                  <a:srgbClr val="1C2620"/>
                </a:solidFill>
              </a:rPr>
              <a:t>Ação priorizada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4A093-A325-4FAC-8A58-3A84B3BF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43475"/>
            <a:ext cx="1847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Atrasos, próximos vencimentos e manutenção ficam visíveis.</a:t>
            </a:r>
          </a:p>
        </p:txBody>
      </p:sp>
    </p:spTree>
    <p:extLst>
      <p:ext uri="{BB962C8B-B14F-4D97-AF65-F5344CB8AC3E}">
        <p14:creationId xmlns:p14="http://schemas.microsoft.com/office/powerpoint/2010/main" val="157650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338ffff9147ec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E4CB-0F95-4EFF-9699-EF8CB2D4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2724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1D6F5-9AF6-47A0-A58D-7125315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067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CAPTURAS REAIS • DADOS DEMO</a:t>
            </a:r>
          </a:p>
        </p:txBody>
      </p:sp>
    </p:spTree>
    <p:extLst>
      <p:ext uri="{BB962C8B-B14F-4D97-AF65-F5344CB8AC3E}">
        <p14:creationId xmlns:p14="http://schemas.microsoft.com/office/powerpoint/2010/main" val="1836244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182556bca46f1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1D89E-991B-45F5-8C8B-E0CEBE5A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34075"/>
            <a:ext cx="3152775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1CD49-1DF9-434E-A11A-8A806ED0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0864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RECEBIMENTOS SÃO REGISTRADOS MANUALMENTE</a:t>
            </a:r>
          </a:p>
        </p:txBody>
      </p:sp>
    </p:spTree>
    <p:extLst>
      <p:ext uri="{BB962C8B-B14F-4D97-AF65-F5344CB8AC3E}">
        <p14:creationId xmlns:p14="http://schemas.microsoft.com/office/powerpoint/2010/main" val="1384174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64FDD6-7E41-4FC1-8534-057DE31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COBRANÇA ASSISTIDA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73ED7-A785-4451-9BF5-B11E15F7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Prepare a cobrança. Mantenha o envio sob seu controle.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B1D36-4CFC-4780-8925-6388FE96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9D1"/>
                </a:solidFill>
              </a:defRPr>
            </a:pPr>
            <a:r>
              <a:rPr sz="1350" b="0">
                <a:solidFill>
                  <a:srgbClr val="C9D9D1"/>
                </a:solidFill>
              </a:rPr>
              <a:t>O aplicativo monta o contexto e oferece atalhos; nenhuma mensagem ou baixa acontece sem ação humana.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482DC-F69A-4636-8330-2D421D6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CC3"/>
                </a:solidFill>
              </a:defRPr>
            </a:pPr>
            <a:r>
              <a:rPr sz="750" b="1">
                <a:solidFill>
                  <a:srgbClr val="B9CCC3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CF1A7-3EBD-4F13-8E53-D53E7D0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34B04-4381-4AC3-84FC-F3C85FD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93D"/>
          </a:solidFill>
          <a:ln xmlns:a="http://schemas.openxmlformats.org/drawingml/2006/main" w="9525">
            <a:solidFill>
              <a:srgbClr val="3A62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133A3-995F-4EDB-819B-5BEA11E2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863C"/>
                </a:solidFill>
              </a:defRPr>
            </a:pPr>
            <a:r>
              <a:rPr sz="1275" b="1">
                <a:solidFill>
                  <a:srgbClr val="B8863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CAFE9-5F95-4752-A600-650EB01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Identifique a pendência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49E0-DB93-45EE-82CE-F59989E2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O painel e a ficha mostram o mês e o valor.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FF590-B108-4F0D-A68F-A7D695C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93D"/>
          </a:solidFill>
          <a:ln xmlns:a="http://schemas.openxmlformats.org/drawingml/2006/main" w="9525">
            <a:solidFill>
              <a:srgbClr val="3A6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E2581-067B-46CB-8A7D-F3BF3A4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863C"/>
                </a:solidFill>
              </a:defRPr>
            </a:pPr>
            <a:r>
              <a:rPr sz="1275" b="1">
                <a:solidFill>
                  <a:srgbClr val="B8863C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8EFBE-F8F3-4C7E-9343-FDC1CB66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Abra a mensagem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57FAC-1D9C-45FE-B609-B5E8D205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48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O WhatsApp recebe um texto pré-preenchido.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07234-AE1F-440A-9C38-E72C9D77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93D"/>
          </a:solidFill>
          <a:ln xmlns:a="http://schemas.openxmlformats.org/drawingml/2006/main" w="9525">
            <a:solidFill>
              <a:srgbClr val="3A62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5899C-0EB2-4770-962D-A3F8A71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863C"/>
                </a:solidFill>
              </a:defRPr>
            </a:pPr>
            <a:r>
              <a:rPr sz="1275" b="1">
                <a:solidFill>
                  <a:srgbClr val="B8863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92F1A-383A-431E-8D14-82D5747D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Inclua o PIX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30BA7-1B1F-46FA-A587-B3697987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Use o Copia e Cola quando a chave estiver configurada.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D4840-CE80-411D-9805-E92763DF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63C"/>
          </a:solidFill>
          <a:ln xmlns:a="http://schemas.openxmlformats.org/drawingml/2006/main" w="9525">
            <a:solidFill>
              <a:srgbClr val="3A62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E9598-0B4A-4150-BE3D-0B6299EA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2A"/>
                </a:solidFill>
              </a:defRPr>
            </a:pPr>
            <a:r>
              <a:rPr sz="1275" b="1">
                <a:solidFill>
                  <a:srgbClr val="14322A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8F26E-3D23-49AB-B6F0-07067DDC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Confirme o recebimento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F831A-50F3-4AE9-8894-ED7EBB5D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00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1"/>
                </a:solidFill>
              </a:defRPr>
            </a:pPr>
            <a:r>
              <a:rPr sz="1125" b="0">
                <a:solidFill>
                  <a:srgbClr val="C9D9D1"/>
                </a:solidFill>
              </a:rPr>
              <a:t>A baixa é registrada manualmente no aplicativo.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9FF38-18B6-48B0-9074-E852AEB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47900"/>
            <a:ext cx="6191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DC31A-8A25-4873-85ED-37FE6E73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47900"/>
            <a:ext cx="619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D2BF1-BD27-48F1-911B-BA5FE255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352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91717-B45E-4B3F-900B-F3BE7EB2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52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9863C-44D8-437F-97CB-FFBCF42C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352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06E8D-919F-4E6A-B0D0-F1E6273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145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f8f79ded74c74"/>
          <a:srcRect xmlns:a="http://schemas.openxmlformats.org/drawingml/2006/main" l="0" t="907" r="0" b="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675" y="2543175"/>
            <a:ext cx="6153150" cy="34004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A4285-857D-4732-B7D4-28C6A31E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62600"/>
            <a:ext cx="3276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B1313-F246-4069-AC40-2CB318D4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435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631F"/>
                </a:solidFill>
              </a:defRPr>
            </a:pPr>
            <a:r>
              <a:rPr sz="900" b="1">
                <a:solidFill>
                  <a:srgbClr val="8C631F"/>
                </a:solidFill>
              </a:rPr>
              <a:t>Sem gateway • sem conciliação bancária automática</a:t>
            </a:r>
          </a:p>
        </p:txBody>
      </p:sp>
    </p:spTree>
    <p:extLst>
      <p:ext uri="{BB962C8B-B14F-4D97-AF65-F5344CB8AC3E}">
        <p14:creationId xmlns:p14="http://schemas.microsoft.com/office/powerpoint/2010/main" val="648091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09076-984B-4A98-BE23-482A4AE0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VACÂNCIA E DEMANDA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7DA62-18CB-4115-8383-F9A02930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Da casa vaga ao próximo contrato, sem perder o fio.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00F76-F4FF-4A35-9EA2-FD8195CC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Publique imóveis vagos, organize interessados e encontre combinações por regras de preço, cômodos e comodidades.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18313-CD0D-4C14-ABA5-E56E3BB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97359-DCF2-4F26-B12C-352B517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B549-5511-4631-9987-DE309D6E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5722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DB090-B5C9-4A48-A396-D431949A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57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60A9-4C7E-4345-9DE5-EA262CA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C6EA6-94EE-4681-8692-B22B171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5D18F-C35D-448A-83D2-5AFE499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95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DEA2A-FAD5-4399-B43F-A04B74D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574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4e39cdce440a1"/>
          <a:srcRect xmlns:a="http://schemas.openxmlformats.org/drawingml/2006/main" l="0" t="1180" r="0" b="1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486025"/>
            <a:ext cx="6534150" cy="3590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4045F-C7F6-4DB5-8D5B-AEE36A4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41148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0C201-319E-4814-BBA2-92C4517A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411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51F5-AD83-4051-90C8-A1AD9D4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95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075AA-2DFB-416A-9147-384A3E5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95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B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09CA4-93E5-47B1-B913-5E335519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95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B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A2949-B1B0-4E44-9546-6FE7CA39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C6B63"/>
                </a:solidFill>
              </a:defRPr>
            </a:pPr>
            <a:r>
              <a:rPr sz="675" b="0">
                <a:solidFill>
                  <a:srgbClr val="5C6B63"/>
                </a:solidFill>
              </a:rPr>
              <a:t>aluguel.app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a25205f9343a2"/>
          <a:srcRect xmlns:a="http://schemas.openxmlformats.org/drawingml/2006/main" l="0" t="779" r="0" b="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2486025"/>
            <a:ext cx="4076700" cy="22574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A4DBC-EB14-4B96-BE7D-488870F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4114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97FC6-F032-4C47-9162-F6DC2F7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C6151-CE79-44EB-BE11-0B40C04E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620"/>
                </a:solidFill>
              </a:defRPr>
            </a:pPr>
            <a:r>
              <a:rPr sz="1575" b="1">
                <a:solidFill>
                  <a:srgbClr val="1C2620"/>
                </a:solidFill>
              </a:rPr>
              <a:t>Matching transparente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6C9F6-D55D-44B7-B987-40AB692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864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Filtro por critérios definidos — não é inteligência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630595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8c16b5b8044aa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7FDB6-D47F-4DFB-95FB-1D75AAA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3429000" cy="485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73B"/>
          </a:solidFill>
          <a:ln xmlns:a="http://schemas.openxmlformats.org/drawingml/2006/main" w="9525">
            <a:solidFill>
              <a:srgbClr val="4067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AA6B7-5EEC-4986-B854-526A61AE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ACESSO DE CONSULTA • PERFIL SEPARADO</a:t>
            </a:r>
          </a:p>
        </p:txBody>
      </p:sp>
    </p:spTree>
    <p:extLst>
      <p:ext uri="{BB962C8B-B14F-4D97-AF65-F5344CB8AC3E}">
        <p14:creationId xmlns:p14="http://schemas.microsoft.com/office/powerpoint/2010/main" val="1936535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21789-94E3-49DC-AD65-B952D8D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COBERTURA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9C50B-BF5B-4EA7-9B2E-1DF9327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O essencial da locação em uma única rotina.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7D734-2FD1-4D49-AF73-7359F3F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Cada módulo preserva o contexto do imóvel, do contrato e do período correspondente.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3A719-0386-4804-8782-24DD989B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1AE73-1716-48FA-8203-0985407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D52F7-B139-46E2-ADF3-D859F98A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5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DDC65-24EB-4F57-8939-7D6CEDB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53DAC-18BA-4183-870C-1C87C5DA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Imóveis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14711-9B34-4D90-BF0F-E4389284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Status, características, fotos, documentos e histórico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EE6B8-AF08-4A1B-88D8-8FFEF225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335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CE92F-6431-43FB-B7E6-8307081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3DD90-2F22-412A-9315-DC3AC215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Inquilinos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E6CE0-E7D6-4D4F-BC53-09747CC5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813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Cadastro reutilizável, vínculos e portal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F12FD-ED9A-4D32-AC9E-9B5A3AA1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35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AE9C7-2174-473B-AAE5-5012003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3F4DA-A31C-4CE5-A331-14E456AC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Contratos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C1F4F-E23F-4AEA-93DF-C6551A11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813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Período, vencimento, proporcional e ciclos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1C670-E30C-418C-BA62-49E17E1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35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2141C-96C2-4810-BE2D-B714939B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D0953-0E58-49A1-A71E-0A17CAE6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Financeiro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6D72D-696D-456F-9492-214D32C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Previsto, recebido, despesas, saldo e relatórios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DC351-594F-44F6-87CD-76372E87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0025"/>
            <a:ext cx="335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28D77-6F7C-4B68-A54A-23571891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00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13A00-F2EE-486F-8827-340861F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576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Energia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F4EC7-52D4-428F-B154-2985A71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43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Leituras, consumo, vencimento e comprovante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0B39F-1DA3-4654-BD29-3AE7F9B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0025"/>
            <a:ext cx="3352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F4436-2BA3-40A8-AEF7-F8F3619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00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9299B-9025-4AC1-A78C-2E213A6D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576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Interessados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7A2E00-B12A-4FE1-806E-3BA42C8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43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Funil, preferências, matching e conversão</a:t>
            </a:r>
          </a:p>
        </p:txBody>
      </p:sp>
    </p:spTree>
    <p:extLst>
      <p:ext uri="{BB962C8B-B14F-4D97-AF65-F5344CB8AC3E}">
        <p14:creationId xmlns:p14="http://schemas.microsoft.com/office/powerpoint/2010/main" val="20653563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6A4D2-63D0-47F8-ADD8-A21D6216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COMEÇAR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2CC39-E0B7-4194-B6C9-1B225FCD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Da primeira casa à visão completa da carteira.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7DB58-CF24-41BB-AC64-2AD65CD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Uma sequência simples, ajustada ao volume e ao nível de apoio contratado.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7E473-451B-4D11-9E44-C013DC3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B3769-444E-4438-A5D2-1387D6A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99138-315A-405D-9948-BF401B36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63E08-28DB-45C9-910B-09C8345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037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F3F4C-9CF6-40E9-9C5A-2461BC44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C631F"/>
                </a:solidFill>
              </a:defRPr>
            </a:pPr>
            <a:r>
              <a:rPr sz="1350" b="1">
                <a:solidFill>
                  <a:srgbClr val="8C631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08001-1334-4622-B1AA-6862716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38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620"/>
                </a:solidFill>
              </a:defRPr>
            </a:pPr>
            <a:r>
              <a:rPr sz="1425" b="1">
                <a:solidFill>
                  <a:srgbClr val="1C2620"/>
                </a:solidFill>
              </a:rPr>
              <a:t>Criar conta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5876B-FDC1-45AA-A6AF-9F108F48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00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63"/>
                </a:solidFill>
              </a:defRPr>
            </a:pPr>
            <a:r>
              <a:rPr sz="1050" b="0">
                <a:solidFill>
                  <a:srgbClr val="5C6B63"/>
                </a:solidFill>
              </a:rPr>
              <a:t>Comece grátis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ADFE0-51E6-472B-A6A5-EEDE581C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0037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7072A-D086-4C12-8FFF-8B2DB829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38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C631F"/>
                </a:solidFill>
              </a:defRPr>
            </a:pPr>
            <a:r>
              <a:rPr sz="1350" b="1">
                <a:solidFill>
                  <a:srgbClr val="8C631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0E2ED-21F6-42D0-B326-3C0FB6AB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38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620"/>
                </a:solidFill>
              </a:defRPr>
            </a:pPr>
            <a:r>
              <a:rPr sz="1425" b="1">
                <a:solidFill>
                  <a:srgbClr val="1C2620"/>
                </a:solidFill>
              </a:rPr>
              <a:t>Configurar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9F3B4-26CB-4A4F-A1B0-E0D3D52C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00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63"/>
                </a:solidFill>
              </a:defRPr>
            </a:pPr>
            <a:r>
              <a:rPr sz="1050" b="0">
                <a:solidFill>
                  <a:srgbClr val="5C6B63"/>
                </a:solidFill>
              </a:rPr>
              <a:t>Locador e PIX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1B004-7230-4945-9B55-B1212621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0037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D0CEC-CBBD-47E1-AF7D-FE0326C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238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C631F"/>
                </a:solidFill>
              </a:defRPr>
            </a:pPr>
            <a:r>
              <a:rPr sz="1350" b="1">
                <a:solidFill>
                  <a:srgbClr val="8C631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E684A-897F-412C-83C8-E7FC4E8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38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620"/>
                </a:solidFill>
              </a:defRPr>
            </a:pPr>
            <a:r>
              <a:rPr sz="1425" b="1">
                <a:solidFill>
                  <a:srgbClr val="1C2620"/>
                </a:solidFill>
              </a:rPr>
              <a:t>Cadastrar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BAB55-2F98-4BDE-B3EC-A9781A3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00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63"/>
                </a:solidFill>
              </a:defRPr>
            </a:pPr>
            <a:r>
              <a:rPr sz="1050" b="0">
                <a:solidFill>
                  <a:srgbClr val="5C6B63"/>
                </a:solidFill>
              </a:rPr>
              <a:t>Imóveis e pessoas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31F09-7C83-4ECC-A5F7-632426CC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0037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C7EF5-FAEE-4A47-A33D-9BF2C505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38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C631F"/>
                </a:solidFill>
              </a:defRPr>
            </a:pPr>
            <a:r>
              <a:rPr sz="1350" b="1">
                <a:solidFill>
                  <a:srgbClr val="8C631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7BAF4-FCC1-4D07-8BF8-DDDC3202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38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620"/>
                </a:solidFill>
              </a:defRPr>
            </a:pPr>
            <a:r>
              <a:rPr sz="1425" b="1">
                <a:solidFill>
                  <a:srgbClr val="1C2620"/>
                </a:solidFill>
              </a:rPr>
              <a:t>Organizar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A8D2C-0587-4A64-BF27-75F6072F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63"/>
                </a:solidFill>
              </a:defRPr>
            </a:pPr>
            <a:r>
              <a:rPr sz="1050" b="0">
                <a:solidFill>
                  <a:srgbClr val="5C6B63"/>
                </a:solidFill>
              </a:rPr>
              <a:t>Contratos e histórico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2D770-2057-4AE2-A76B-EDD561C9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037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9525">
            <a:solidFill>
              <a:srgbClr val="1432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C9DE5-E5B5-4154-B9B7-BCC64AC7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385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863C"/>
                </a:solidFill>
              </a:defRPr>
            </a:pPr>
            <a:r>
              <a:rPr sz="1350" b="1">
                <a:solidFill>
                  <a:srgbClr val="B8863C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63F9B-50A9-4647-9E52-9BFF7B91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38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C2620"/>
                </a:solidFill>
              </a:defRPr>
            </a:pPr>
            <a:r>
              <a:rPr sz="1425" b="1">
                <a:solidFill>
                  <a:srgbClr val="1C2620"/>
                </a:solidFill>
              </a:rPr>
              <a:t>Operar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E5483-BB6E-4690-87C0-F7F7352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4005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63"/>
                </a:solidFill>
              </a:defRPr>
            </a:pPr>
            <a:r>
              <a:rPr sz="1050" b="0">
                <a:solidFill>
                  <a:srgbClr val="5C6B63"/>
                </a:solidFill>
              </a:rPr>
              <a:t>Painel e rotina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B0D49-5B2E-4691-B85E-8A685B2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610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6F3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69CEA-CA5A-4AE0-8774-E1CB11AF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22A"/>
                </a:solidFill>
              </a:defRPr>
            </a:pPr>
            <a:r>
              <a:rPr sz="1275" b="1">
                <a:solidFill>
                  <a:srgbClr val="14322A"/>
                </a:solidFill>
              </a:rPr>
              <a:t>Treinamento, migração, prazo e suporte são definidos na proposta comercial.</a:t>
            </a:r>
          </a:p>
        </p:txBody>
      </p:sp>
    </p:spTree>
    <p:extLst>
      <p:ext uri="{BB962C8B-B14F-4D97-AF65-F5344CB8AC3E}">
        <p14:creationId xmlns:p14="http://schemas.microsoft.com/office/powerpoint/2010/main" val="643861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9B19B-00AE-4272-A169-C53CCE6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ADERÊNCIA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9058D-27A2-4326-B2F7-0B196A1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Feito para pequenos locadores que operam a própria carteira.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0F187-7061-41A0-B34D-C22DDB9B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O melhor encaixe é uma rotina que precisa de centralização e controle, sem depender de integrações corporativas.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CB17A-AD01-47B6-8C70-CF5FB865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18731-CF93-4524-8E5D-703B58B7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6067-154F-4423-ABB6-313D072B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238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BFD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9A59-1811-4C83-9D58-D4273128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2A"/>
                </a:solidFill>
              </a:defRPr>
            </a:pPr>
            <a:r>
              <a:rPr sz="2250" b="1">
                <a:solidFill>
                  <a:srgbClr val="14322A"/>
                </a:solidFill>
              </a:rPr>
              <a:t>É para você se...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6039C-909C-4E13-AD10-2E434CF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620"/>
                </a:solidFill>
              </a:defRPr>
            </a:pPr>
            <a:r>
              <a:rPr sz="1275" b="1">
                <a:solidFill>
                  <a:srgbClr val="1C2620"/>
                </a:solidFill>
              </a:rPr>
              <a:t>✓  Administra uma carteira pequena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C00BB-8EE4-4D28-A251-5A3A98F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620"/>
                </a:solidFill>
              </a:defRPr>
            </a:pPr>
            <a:r>
              <a:rPr sz="1275" b="0">
                <a:solidFill>
                  <a:srgbClr val="1C2620"/>
                </a:solidFill>
              </a:rPr>
              <a:t>✓  Quer histórico por imóvel e contrato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7E062-5100-4160-9FF7-ADDF7D44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620"/>
                </a:solidFill>
              </a:defRPr>
            </a:pPr>
            <a:r>
              <a:rPr sz="1275" b="0">
                <a:solidFill>
                  <a:srgbClr val="1C2620"/>
                </a:solidFill>
              </a:rPr>
              <a:t>✓  Registra recebimentos e despesas manualmente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9FC6D-DD88-43B4-9080-98C4B3D9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620"/>
                </a:solidFill>
              </a:defRPr>
            </a:pPr>
            <a:r>
              <a:rPr sz="1275" b="0">
                <a:solidFill>
                  <a:srgbClr val="1C2620"/>
                </a:solidFill>
              </a:rPr>
              <a:t>✓  Precisa organizar vagas e interessados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17233-2161-4932-B685-4952EBF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5238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0F9EE-5E00-44F6-BC5E-8E66BBF8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620"/>
                </a:solidFill>
              </a:defRPr>
            </a:pPr>
            <a:r>
              <a:rPr sz="2100" b="1">
                <a:solidFill>
                  <a:srgbClr val="1C2620"/>
                </a:solidFill>
              </a:rPr>
              <a:t>Pode não ser o melhor encaixe se...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E62C5-283A-4E54-821D-D2EB0F54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63"/>
                </a:solidFill>
              </a:defRPr>
            </a:pPr>
            <a:r>
              <a:rPr sz="1275" b="0">
                <a:solidFill>
                  <a:srgbClr val="5C6B63"/>
                </a:solidFill>
              </a:rPr>
              <a:t>—  Exige conciliação bancária automática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6F2A9-0F8E-435A-9D43-189C8450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63"/>
                </a:solidFill>
              </a:defRPr>
            </a:pPr>
            <a:r>
              <a:rPr sz="1275" b="0">
                <a:solidFill>
                  <a:srgbClr val="5C6B63"/>
                </a:solidFill>
              </a:rPr>
              <a:t>—  Precisa de assinatura digital integrada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B5F70-260F-4C04-82F1-F890BC0C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63"/>
                </a:solidFill>
              </a:defRPr>
            </a:pPr>
            <a:r>
              <a:rPr sz="1275" b="0">
                <a:solidFill>
                  <a:srgbClr val="5C6B63"/>
                </a:solidFill>
              </a:rPr>
              <a:t>—  Depende de integrações contábeis/ERP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786BD-BD31-4405-A3C0-284DCFE7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63"/>
                </a:solidFill>
              </a:defRPr>
            </a:pPr>
            <a:r>
              <a:rPr sz="1275" b="0">
                <a:solidFill>
                  <a:srgbClr val="5C6B63"/>
                </a:solidFill>
              </a:rPr>
              <a:t>—  Quer edição totalmente offline</a:t>
            </a:r>
          </a:p>
        </p:txBody>
      </p:sp>
    </p:spTree>
    <p:extLst>
      <p:ext uri="{BB962C8B-B14F-4D97-AF65-F5344CB8AC3E}">
        <p14:creationId xmlns:p14="http://schemas.microsoft.com/office/powerpoint/2010/main" val="854972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EE5512-DB8D-48B9-B223-979B1F75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PLANOS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C03A8-2417-4BD6-9F0E-ABCD6BE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620"/>
                </a:solidFill>
              </a:defRPr>
            </a:pPr>
            <a:r>
              <a:rPr sz="3000" b="1">
                <a:solidFill>
                  <a:srgbClr val="1C2620"/>
                </a:solidFill>
              </a:rPr>
              <a:t>Comece pequeno. Evolua conforme a carteira.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4CB79-9EF7-4907-8095-C5B9E445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63"/>
                </a:solidFill>
              </a:defRPr>
            </a:pPr>
            <a:r>
              <a:rPr sz="1350" b="0">
                <a:solidFill>
                  <a:srgbClr val="5C6B63"/>
                </a:solidFill>
              </a:rPr>
              <a:t>Os limites abaixo são os definidos no produto. Valores e condições dos planos pagos são apresentados pela equipe comercial.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64F6A-4B7D-4B39-9DEA-1E9E33B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92CE1-B21B-4ADA-90DC-0A337D19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71146-0A4B-4962-990A-07467D7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6F426-B17E-466A-B766-F6386E9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620"/>
                </a:solidFill>
              </a:defRPr>
            </a:pPr>
            <a:r>
              <a:rPr sz="2325" b="1">
                <a:solidFill>
                  <a:srgbClr val="1C2620"/>
                </a:solidFill>
              </a:rPr>
              <a:t>Gratuito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1BFDE-DF62-4CF9-B73F-4AA2B22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631F"/>
                </a:solidFill>
              </a:defRPr>
            </a:pPr>
            <a:r>
              <a:rPr sz="1650" b="1">
                <a:solidFill>
                  <a:srgbClr val="8C631F"/>
                </a:solidFill>
              </a:rPr>
              <a:t>1 imóvel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087AC-02B6-4DFB-B9BA-A8B9ECF2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B63"/>
                </a:solidFill>
              </a:defRPr>
            </a:pPr>
            <a:r>
              <a:rPr sz="1200" b="1">
                <a:solidFill>
                  <a:srgbClr val="5C6B63"/>
                </a:solidFill>
              </a:rPr>
              <a:t>50 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52B6D-C7AF-4623-B4ED-11842DD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38E9A-B231-46DA-A14B-E48D441D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Para experimentar o fluxo com um imóvel.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66BB0-6A5F-4CA6-80A2-F9D6B843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322A"/>
                </a:solidFill>
              </a:defRPr>
            </a:pPr>
            <a:r>
              <a:rPr sz="1050" b="1">
                <a:solidFill>
                  <a:srgbClr val="14322A"/>
                </a:solidFill>
              </a:rPr>
              <a:t>Começar grátis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CA4B6-7BC8-4580-8DA0-C2D2783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19050">
            <a:solidFill>
              <a:srgbClr val="B886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7E568-18AA-47D8-9BB5-094E5B3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95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863C"/>
                </a:solidFill>
              </a:defRPr>
            </a:pPr>
            <a:r>
              <a:rPr sz="750" b="1">
                <a:solidFill>
                  <a:srgbClr val="B8863C"/>
                </a:solidFill>
              </a:rPr>
              <a:t>MAIS EQUILÍBRIO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B80C0-9938-4200-9A57-6D0ADF0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81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Básico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AB104-9854-406F-A71F-BCCDFA17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863C"/>
                </a:solidFill>
              </a:defRPr>
            </a:pPr>
            <a:r>
              <a:rPr sz="1650" b="1">
                <a:solidFill>
                  <a:srgbClr val="B8863C"/>
                </a:solidFill>
              </a:rPr>
              <a:t>3 imóvelis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2FE40-B49B-4E43-AE8A-4442CB3B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33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D9D1"/>
                </a:solidFill>
              </a:defRPr>
            </a:pPr>
            <a:r>
              <a:rPr sz="1200" b="1">
                <a:solidFill>
                  <a:srgbClr val="C9D9D1"/>
                </a:solidFill>
              </a:rPr>
              <a:t>1 GB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1ADF1-A486-416F-AE00-1B72E5E8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14800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0FBD0-E961-4D46-86C4-A1E0984D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0530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9D1"/>
                </a:solidFill>
              </a:defRPr>
            </a:pPr>
            <a:r>
              <a:rPr sz="1200" b="0">
                <a:solidFill>
                  <a:srgbClr val="C9D9D1"/>
                </a:solidFill>
              </a:rPr>
              <a:t>Para uma carteira pequena em operação cotidiana.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49526-17CC-4B2A-807C-8DD28B6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482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863C"/>
                </a:solidFill>
              </a:defRPr>
            </a:pPr>
            <a:r>
              <a:rPr sz="1050" b="1">
                <a:solidFill>
                  <a:srgbClr val="B8863C"/>
                </a:solidFill>
              </a:rPr>
              <a:t>Condições sob consulta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52E9D-C9C6-4A32-B7A0-2749759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3333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1141E-D845-4A78-B93A-EEE38511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620"/>
                </a:solidFill>
              </a:defRPr>
            </a:pPr>
            <a:r>
              <a:rPr sz="2325" b="1">
                <a:solidFill>
                  <a:srgbClr val="1C2620"/>
                </a:solidFill>
              </a:rPr>
              <a:t>Premium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56F32-4375-435D-BAFA-7426296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C631F"/>
                </a:solidFill>
              </a:defRPr>
            </a:pPr>
            <a:r>
              <a:rPr sz="1650" b="1">
                <a:solidFill>
                  <a:srgbClr val="8C631F"/>
                </a:solidFill>
              </a:rPr>
              <a:t>100 imóvelis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EE134-7D5A-4038-920D-5C8D8640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B63"/>
                </a:solidFill>
              </a:defRPr>
            </a:pPr>
            <a:r>
              <a:rPr sz="1200" b="1">
                <a:solidFill>
                  <a:srgbClr val="5C6B63"/>
                </a:solidFill>
              </a:rPr>
              <a:t>10 GB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53860-697A-4B45-96EA-11C5D39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AEA38-2EA9-45C7-B534-CD091F6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Para ampliar a carteira e a capacidade de arquivos.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068CB4-586C-410E-BB62-8A9920DC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482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322A"/>
                </a:solidFill>
              </a:defRPr>
            </a:pPr>
            <a:r>
              <a:rPr sz="1050" b="1">
                <a:solidFill>
                  <a:srgbClr val="14322A"/>
                </a:solidFill>
              </a:rPr>
              <a:t>Condições sob consulta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34B57-8CE0-4F5A-AD69-BBE43BED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B63"/>
                </a:solidFill>
              </a:defRPr>
            </a:pPr>
            <a:r>
              <a:rPr sz="1125" b="1">
                <a:solidFill>
                  <a:srgbClr val="5C6B63"/>
                </a:solidFill>
              </a:rPr>
              <a:t>Nenhum plano é descrito como ilimitado.</a:t>
            </a:r>
          </a:p>
        </p:txBody>
      </p:sp>
    </p:spTree>
    <p:extLst>
      <p:ext uri="{BB962C8B-B14F-4D97-AF65-F5344CB8AC3E}">
        <p14:creationId xmlns:p14="http://schemas.microsoft.com/office/powerpoint/2010/main" val="839250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3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1CA80-35AE-4C8C-963A-1DE2BC6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CONFIANÇA POR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83807-275B-4065-8ECA-9A47FB5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Dados separados, acesso por perfil e portabilidade.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D3F0-266B-4F16-B8AB-23A5FE65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9D1"/>
                </a:solidFill>
              </a:defRPr>
            </a:pPr>
            <a:r>
              <a:rPr sz="1350" b="0">
                <a:solidFill>
                  <a:srgbClr val="C9D9D1"/>
                </a:solidFill>
              </a:rPr>
              <a:t>A comunicação permanece precisa: segurança é tratada por arquitetura e governança, sem promessas absolutas.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AC5D7-2125-44E3-8A12-A74754B3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CC3"/>
                </a:solidFill>
              </a:defRPr>
            </a:pPr>
            <a:r>
              <a:rPr sz="750" b="1">
                <a:solidFill>
                  <a:srgbClr val="B9CCC3"/>
                </a:solidFill>
              </a:rPr>
              <a:t>APRESENTAÇÃO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8F545-6DBF-4F5B-A855-BDE990C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863C"/>
                </a:solidFill>
              </a:defRPr>
            </a:pPr>
            <a:r>
              <a:rPr sz="825" b="1">
                <a:solidFill>
                  <a:srgbClr val="B8863C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C9BB2-41E3-4FB4-9DCD-542C9D97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143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83DF5-37E0-4D86-87C0-962B814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131EF-F5AB-4B3C-990C-F9E23BE6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9D1"/>
                </a:solidFill>
              </a:defRPr>
            </a:pPr>
            <a:r>
              <a:rPr sz="1200" b="0">
                <a:solidFill>
                  <a:srgbClr val="C9D9D1"/>
                </a:solidFill>
              </a:rPr>
              <a:t>Dados operacionais separados por proprietário e políticas de acesso.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57589-5ED1-4FB3-9609-F5053C64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5143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F321D-C931-4274-842D-AA1A13E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Arquivos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0DA44-2965-484A-A621-052D2D1D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9D1"/>
                </a:solidFill>
              </a:defRPr>
            </a:pPr>
            <a:r>
              <a:rPr sz="1200" b="0">
                <a:solidFill>
                  <a:srgbClr val="C9D9D1"/>
                </a:solidFill>
              </a:rPr>
              <a:t>Bucket privado e links temporários quando um documento é solicitado.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627D7-2BB2-43CD-AFAC-E6196115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143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D40AE-6979-40B3-BD06-04A08394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620"/>
                </a:solidFill>
              </a:defRPr>
            </a:pPr>
            <a:r>
              <a:rPr sz="1875" b="1">
                <a:solidFill>
                  <a:srgbClr val="1C2620"/>
                </a:solidFill>
              </a:rPr>
              <a:t>Backup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D4D87-FF2E-4D56-A6A9-72919B5C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63"/>
                </a:solidFill>
              </a:defRPr>
            </a:pPr>
            <a:r>
              <a:rPr sz="1200" b="0">
                <a:solidFill>
                  <a:srgbClr val="5C6B63"/>
                </a:solidFill>
              </a:rPr>
              <a:t>Exportação manual e snapshots diários conforme a configuração atual.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2317B-2961-46F8-992F-AA20A154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5143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4035"/>
          </a:solidFill>
          <a:ln xmlns:a="http://schemas.openxmlformats.org/drawingml/2006/main" w="9525">
            <a:solidFill>
              <a:srgbClr val="3659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ADA92-ED22-4ED0-8ED8-D53D2CA1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Offline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D4CE8-C2CE-48C4-8AC4-6EBA8C3D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9D1"/>
                </a:solidFill>
              </a:defRPr>
            </a:pPr>
            <a:r>
              <a:rPr sz="1200" b="0">
                <a:solidFill>
                  <a:srgbClr val="C9D9D1"/>
                </a:solidFill>
              </a:rPr>
              <a:t>Consulta da última cópia disponível; alterações exigem internet.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70A45-8A6B-4725-985B-B81B24DA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863C"/>
                </a:solidFill>
              </a:defRPr>
            </a:pPr>
            <a:r>
              <a:rPr sz="1275" b="1">
                <a:solidFill>
                  <a:srgbClr val="B8863C"/>
                </a:solidFill>
              </a:rPr>
              <a:t>Sem alegação de certificação LGPD, criptografia ponta a ponta, disponibilidade ou ROI garantido.</a:t>
            </a:r>
          </a:p>
        </p:txBody>
      </p:sp>
    </p:spTree>
    <p:extLst>
      <p:ext uri="{BB962C8B-B14F-4D97-AF65-F5344CB8AC3E}">
        <p14:creationId xmlns:p14="http://schemas.microsoft.com/office/powerpoint/2010/main" val="1564537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f2f7b77bc43bd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B5A51-36E4-4A97-A10F-9053C28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620"/>
                </a:solidFill>
              </a:defRPr>
            </a:pPr>
            <a:r>
              <a:rPr sz="1725" b="1">
                <a:solidFill>
                  <a:srgbClr val="1C2620"/>
                </a:solidFill>
              </a:rPr>
              <a:t>Aluguel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FD66F-ABC5-4C7D-BD62-407B7619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0C186-1970-4497-ADF5-2F941948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00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C2620"/>
                </a:solidFill>
              </a:defRPr>
            </a:pPr>
            <a:r>
              <a:rPr sz="4050" b="1">
                <a:solidFill>
                  <a:srgbClr val="1C2620"/>
                </a:solidFill>
              </a:rPr>
              <a:t>Veja sua rotina</a:t>
            </a:r>
          </a:p>
          <a:p xmlns:a="http://schemas.openxmlformats.org/drawingml/2006/main">
            <a:pPr algn="l">
              <a:defRPr sz="4050" b="1">
                <a:solidFill>
                  <a:srgbClr val="1C2620"/>
                </a:solidFill>
              </a:defRPr>
            </a:pPr>
            <a:r>
              <a:rPr sz="4050" b="1">
                <a:solidFill>
                  <a:srgbClr val="1C2620"/>
                </a:solidFill>
              </a:rPr>
              <a:t>dentro do Aluguel.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97237-B46B-40EA-A449-0BF153C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B63"/>
                </a:solidFill>
              </a:defRPr>
            </a:pPr>
            <a:r>
              <a:rPr sz="1575" b="0">
                <a:solidFill>
                  <a:srgbClr val="5C6B63"/>
                </a:solidFill>
              </a:rPr>
              <a:t>Solicite uma demonstração guiada ou comece gratuitamente com 1 imóvel.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32E25-1B2D-4504-8A3D-607D085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432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CC50-8C7C-42DC-86C7-F808A9BB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Solicitar demonstração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CF67C-D32B-4A1D-A0CD-0C6BA15B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1E4C8"/>
          </a:solidFill>
          <a:ln xmlns:a="http://schemas.openxmlformats.org/drawingml/2006/main" w="9525">
            <a:solidFill>
              <a:srgbClr val="B886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19F3C-2863-4040-8571-4C61B616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22A"/>
                </a:solidFill>
              </a:defRPr>
            </a:pPr>
            <a:r>
              <a:rPr sz="1350" b="1">
                <a:solidFill>
                  <a:srgbClr val="14322A"/>
                </a:solidFill>
              </a:rPr>
              <a:t>Começar grátis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24723-0812-4446-BB3D-6125E9A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322A"/>
                </a:solidFill>
              </a:defRPr>
            </a:pPr>
            <a:r>
              <a:rPr sz="1275" b="1">
                <a:solidFill>
                  <a:srgbClr val="14322A"/>
                </a:solidFill>
              </a:rPr>
              <a:t>andertonaluguel@gmail.com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762D4-86DA-4F0B-8EAE-154E7A63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63"/>
                </a:solidFill>
              </a:defRPr>
            </a:pPr>
            <a:r>
              <a:rPr sz="1050" b="0">
                <a:solidFill>
                  <a:srgbClr val="5C6B63"/>
                </a:solidFill>
              </a:rPr>
              <a:t>WhatsApp: inserir número oficial com DDD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5BE0E-052C-4A62-A78A-2A5D1ED8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52500"/>
            <a:ext cx="3524250" cy="4762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5b8f521144560"/>
          <a:stretch xmlns:a="http://schemas.openxmlformats.org/drawingml/2006/main"/>
        </p:blipFill>
        <p:spPr>
          <a:xfrm xmlns:a="http://schemas.openxmlformats.org/drawingml/2006/main">
            <a:off x="7972425" y="1495425"/>
            <a:ext cx="2533650" cy="25336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C8D44-C509-4794-9C6C-D7F4865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ABRA O APLICATIVO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59866-F146-4D60-BC95-5EFFA354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322A"/>
                </a:solidFill>
              </a:defRPr>
            </a:pPr>
            <a:r>
              <a:rPr sz="1200" b="1">
                <a:solidFill>
                  <a:srgbClr val="14322A"/>
                </a:solidFill>
              </a:rPr>
              <a:t>aluguel-casas-anderton.netlify.app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03AA0-A3F1-4AEC-AD92-5F7C33FC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00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C6B63"/>
                </a:solidFill>
              </a:defRPr>
            </a:pPr>
            <a:r>
              <a:rPr sz="900" b="0">
                <a:solidFill>
                  <a:srgbClr val="5C6B63"/>
                </a:solidFill>
              </a:rPr>
              <a:t>QR validado para o destino oficial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2246A-42E8-4F3D-B483-21DC716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3A099"/>
                </a:solidFill>
              </a:defRPr>
            </a:pPr>
            <a:r>
              <a:rPr sz="750" b="1">
                <a:solidFill>
                  <a:srgbClr val="93A099"/>
                </a:solidFill>
              </a:rPr>
              <a:t>APRESENTAÇÃO COMERCIAL • 22/07/2026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F3FA9-1267-4465-AF3A-49E341A9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631F"/>
                </a:solidFill>
              </a:defRPr>
            </a:pPr>
            <a:r>
              <a:rPr sz="825" b="1">
                <a:solidFill>
                  <a:srgbClr val="8C631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1115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2026-07-25T19:50:27.8880000Z</dcterms:created>
  <dcterms:modified xsi:type="dcterms:W3CDTF">2026-07-25T19:50:27.8880000Z</dcterms:modified>
</coreProperties>
</file>